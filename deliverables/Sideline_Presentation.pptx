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5e8b37cc2e84349" /><Relationship Type="http://schemas.openxmlformats.org/officeDocument/2006/relationships/extended-properties" Target="/docProps/app.xml" Id="Rf9ea0b6b4b494f43" /><Relationship Type="http://schemas.openxmlformats.org/officeDocument/2006/relationships/officeDocument" Target="/ppt/presentation.xml" Id="R71351ca309f4489a" /></Relationships>
</file>

<file path=ppt/presentation.xml><?xml version="1.0" encoding="utf-8"?>
<p:presentation xmlns:p="http://schemas.openxmlformats.org/presentationml/2006/main">
  <p:sldMasterIdLst>
    <p:sldMasterId xmlns:r="http://schemas.openxmlformats.org/officeDocument/2006/relationships" id="2147483648" r:id="Rb77460b6f1024017"/>
  </p:sldMasterIdLst>
  <p:notesMasterIdLst>
    <p:notesMasterId xmlns:r="http://schemas.openxmlformats.org/officeDocument/2006/relationships" r:id="R488af4417a414832"/>
  </p:notesMasterIdLst>
  <p:sldIdLst>
    <p:sldId xmlns:r="http://schemas.openxmlformats.org/officeDocument/2006/relationships" id="256" r:id="Rb767775cb89346dc"/>
    <p:sldId xmlns:r="http://schemas.openxmlformats.org/officeDocument/2006/relationships" id="257" r:id="R6323279ac6de487f"/>
    <p:sldId xmlns:r="http://schemas.openxmlformats.org/officeDocument/2006/relationships" id="258" r:id="R22e65bc1b29f414b"/>
    <p:sldId xmlns:r="http://schemas.openxmlformats.org/officeDocument/2006/relationships" id="259" r:id="R70c3c4e25fa84057"/>
    <p:sldId xmlns:r="http://schemas.openxmlformats.org/officeDocument/2006/relationships" id="260" r:id="Ra2a3fb326ff74309"/>
    <p:sldId xmlns:r="http://schemas.openxmlformats.org/officeDocument/2006/relationships" id="261" r:id="R7ef605185d4242d7"/>
    <p:sldId xmlns:r="http://schemas.openxmlformats.org/officeDocument/2006/relationships" id="262" r:id="R68f5996b080e48ea"/>
    <p:sldId xmlns:r="http://schemas.openxmlformats.org/officeDocument/2006/relationships" id="263" r:id="Rd7fb911dd7e04295"/>
    <p:sldId xmlns:r="http://schemas.openxmlformats.org/officeDocument/2006/relationships" id="264" r:id="R20da146509f74da5"/>
    <p:sldId xmlns:r="http://schemas.openxmlformats.org/officeDocument/2006/relationships" id="265" r:id="R7bde278e48934a0b"/>
    <p:sldId xmlns:r="http://schemas.openxmlformats.org/officeDocument/2006/relationships" id="266" r:id="R8f7face52ba04616"/>
    <p:sldId xmlns:r="http://schemas.openxmlformats.org/officeDocument/2006/relationships" id="267" r:id="R7b01ad4ff3b4409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82e84d37b2b4bec" /><Relationship Type="http://schemas.openxmlformats.org/officeDocument/2006/relationships/slideMaster" Target="/ppt/slideMasters/slideMaster1.xml" Id="Rb77460b6f1024017" /><Relationship Type="http://schemas.openxmlformats.org/officeDocument/2006/relationships/notesMaster" Target="/ppt/notesMasters/notesMaster1.xml" Id="R488af4417a414832" /><Relationship Type="http://schemas.openxmlformats.org/officeDocument/2006/relationships/presProps" Target="/ppt/presProps.xml" Id="Rdf5aba635aa14b34" /><Relationship Type="http://schemas.openxmlformats.org/officeDocument/2006/relationships/tableStyles" Target="/ppt/tableStyles.xml" Id="R4bb685b345804e2d" /><Relationship Type="http://schemas.openxmlformats.org/officeDocument/2006/relationships/slide" Target="/ppt/slides/slide1.xml" Id="Rb767775cb89346dc" /><Relationship Type="http://schemas.openxmlformats.org/officeDocument/2006/relationships/slide" Target="/ppt/slides/slide2.xml" Id="R6323279ac6de487f" /><Relationship Type="http://schemas.openxmlformats.org/officeDocument/2006/relationships/slide" Target="/ppt/slides/slide3.xml" Id="R22e65bc1b29f414b" /><Relationship Type="http://schemas.openxmlformats.org/officeDocument/2006/relationships/slide" Target="/ppt/slides/slide4.xml" Id="R70c3c4e25fa84057" /><Relationship Type="http://schemas.openxmlformats.org/officeDocument/2006/relationships/slide" Target="/ppt/slides/slide5.xml" Id="Ra2a3fb326ff74309" /><Relationship Type="http://schemas.openxmlformats.org/officeDocument/2006/relationships/slide" Target="/ppt/slides/slide6.xml" Id="R7ef605185d4242d7" /><Relationship Type="http://schemas.openxmlformats.org/officeDocument/2006/relationships/slide" Target="/ppt/slides/slide7.xml" Id="R68f5996b080e48ea" /><Relationship Type="http://schemas.openxmlformats.org/officeDocument/2006/relationships/slide" Target="/ppt/slides/slide8.xml" Id="Rd7fb911dd7e04295" /><Relationship Type="http://schemas.openxmlformats.org/officeDocument/2006/relationships/slide" Target="/ppt/slides/slide9.xml" Id="R20da146509f74da5" /><Relationship Type="http://schemas.openxmlformats.org/officeDocument/2006/relationships/slide" Target="/ppt/slides/slide10.xml" Id="R7bde278e48934a0b" /><Relationship Type="http://schemas.openxmlformats.org/officeDocument/2006/relationships/slide" Target="/ppt/slides/slide11.xml" Id="R8f7face52ba04616" /><Relationship Type="http://schemas.openxmlformats.org/officeDocument/2006/relationships/slide" Target="/ppt/slides/slide12.xml" Id="R7b01ad4ff3b4409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3a152106b5473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b56cff5458b4322" /><Relationship Type="http://schemas.openxmlformats.org/officeDocument/2006/relationships/notesMaster" Target="/ppt/notesMasters/notesMaster1.xml" Id="Rcd997e268ad745f9"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ce21c29a314410" /><Relationship Type="http://schemas.openxmlformats.org/officeDocument/2006/relationships/notesMaster" Target="/ppt/notesMasters/notesMaster1.xml" Id="Rddf27729ebc34af7" /></Relationships>
</file>

<file path=ppt/notesSlides/_rels/notesSlide3.xml.rels>&#65279;<?xml version="1.0" encoding="utf-8"?><Relationships xmlns="http://schemas.openxmlformats.org/package/2006/relationships"><Relationship Type="http://schemas.openxmlformats.org/officeDocument/2006/relationships/slide" Target="/ppt/slides/slide3.xml" Id="Ra8cdcda381634755" /><Relationship Type="http://schemas.openxmlformats.org/officeDocument/2006/relationships/notesMaster" Target="/ppt/notesMasters/notesMaster1.xml" Id="R24d2e61fa86f49cf" /></Relationships>
</file>

<file path=ppt/notesSlides/_rels/notesSlide4.xml.rels>&#65279;<?xml version="1.0" encoding="utf-8"?><Relationships xmlns="http://schemas.openxmlformats.org/package/2006/relationships"><Relationship Type="http://schemas.openxmlformats.org/officeDocument/2006/relationships/slide" Target="/ppt/slides/slide4.xml" Id="Rd06da5e9e7f54f76" /><Relationship Type="http://schemas.openxmlformats.org/officeDocument/2006/relationships/notesMaster" Target="/ppt/notesMasters/notesMaster1.xml" Id="R059cac3bd3c84f07" /></Relationships>
</file>

<file path=ppt/notesSlides/_rels/notesSlide5.xml.rels>&#65279;<?xml version="1.0" encoding="utf-8"?><Relationships xmlns="http://schemas.openxmlformats.org/package/2006/relationships"><Relationship Type="http://schemas.openxmlformats.org/officeDocument/2006/relationships/slide" Target="/ppt/slides/slide5.xml" Id="R1b7ce24e89ab42a8" /><Relationship Type="http://schemas.openxmlformats.org/officeDocument/2006/relationships/notesMaster" Target="/ppt/notesMasters/notesMaster1.xml" Id="Rdf7e370955da447d" /></Relationships>
</file>

<file path=ppt/notesSlides/_rels/notesSlide6.xml.rels>&#65279;<?xml version="1.0" encoding="utf-8"?><Relationships xmlns="http://schemas.openxmlformats.org/package/2006/relationships"><Relationship Type="http://schemas.openxmlformats.org/officeDocument/2006/relationships/slide" Target="/ppt/slides/slide6.xml" Id="R1e53c1f1575b47d2" /><Relationship Type="http://schemas.openxmlformats.org/officeDocument/2006/relationships/notesMaster" Target="/ppt/notesMasters/notesMaster1.xml" Id="Rf638cb2f202a4e30" /></Relationships>
</file>

<file path=ppt/notesSlides/_rels/notesSlide7.xml.rels>&#65279;<?xml version="1.0" encoding="utf-8"?><Relationships xmlns="http://schemas.openxmlformats.org/package/2006/relationships"><Relationship Type="http://schemas.openxmlformats.org/officeDocument/2006/relationships/slide" Target="/ppt/slides/slide7.xml" Id="R831e2dc9f23d4864" /><Relationship Type="http://schemas.openxmlformats.org/officeDocument/2006/relationships/notesMaster" Target="/ppt/notesMasters/notesMaster1.xml" Id="R434203e936604d90" /></Relationships>
</file>

<file path=ppt/notesSlides/_rels/notesSlide8.xml.rels>&#65279;<?xml version="1.0" encoding="utf-8"?><Relationships xmlns="http://schemas.openxmlformats.org/package/2006/relationships"><Relationship Type="http://schemas.openxmlformats.org/officeDocument/2006/relationships/slide" Target="/ppt/slides/slide8.xml" Id="R83fdc73836b94a90" /><Relationship Type="http://schemas.openxmlformats.org/officeDocument/2006/relationships/notesMaster" Target="/ppt/notesMasters/notesMaster1.xml" Id="R5f30f6a8728c4702" /></Relationships>
</file>

<file path=ppt/notesSlides/_rels/notesSlide9.xml.rels>&#65279;<?xml version="1.0" encoding="utf-8"?><Relationships xmlns="http://schemas.openxmlformats.org/package/2006/relationships"><Relationship Type="http://schemas.openxmlformats.org/officeDocument/2006/relationships/slide" Target="/ppt/slides/slide9.xml" Id="R3258ede3ca2a4f25" /><Relationship Type="http://schemas.openxmlformats.org/officeDocument/2006/relationships/notesMaster" Target="/ppt/notesMasters/notesMaster1.xml" Id="Rb7b3da49d8674ce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482110c6e4e4048" /><Relationship Type="http://schemas.openxmlformats.org/officeDocument/2006/relationships/notesMaster" Target="/ppt/notesMasters/notesMaster1.xml" Id="Rb479af251e9e44e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4864cc2363e4805" /><Relationship Type="http://schemas.openxmlformats.org/officeDocument/2006/relationships/notesMaster" Target="/ppt/notesMasters/notesMaster1.xml" Id="R8c820c275d514f4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c995013247f49b4" /><Relationship Type="http://schemas.openxmlformats.org/officeDocument/2006/relationships/notesMaster" Target="/ppt/notesMasters/notesMaster1.xml" Id="R1747ede1b059483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Sideline as a system for comparing two wide receivers. Explain that the project focuses on full PPR and helps fantasy users see deeper statistics in one place. The prototype runs locally and uses real nflverse data.</a:t>
            </a:r>
          </a:p>
          <a:p xmlns:a="http://schemas.openxmlformats.org/drawingml/2006/main">
            <a:r>
              <a:t>Evidence: local Flask implementation captured October 11, 2026. Sources and manifests accompany the project. nflverse: https://github.com/nflverse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your original motivation in your own words. Describe how a typical lineup choice sends a user across multiple pages to find playing time, targets and opponent strength. The innovation is the combined comparison experience. Avoid claiming that collecting these statistics alone creates a uniquely superior prediction model.</a:t>
            </a:r>
          </a:p>
          <a:p xmlns:a="http://schemas.openxmlformats.org/drawingml/2006/main">
            <a:r>
              <a:t>Evidence: local Flask implementation captured October 11, 2026. Sources and manifests accompany the project. nflverse: https://github.com/nflverse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decision to restrict the project to wide receivers. That reduces inconsistent scoring patterns across positions and leaves time to build and evaluate a complete system. SQL supports the data layer and Python supports modeling and Flask. Mention that the project currently runs on a local computer.</a:t>
            </a:r>
          </a:p>
          <a:p xmlns:a="http://schemas.openxmlformats.org/drawingml/2006/main">
            <a:r>
              <a:t>Evidence: local Flask implementation captured October 11, 2026. Sources and manifests accompany the project. nflverse: https://github.com/nflverse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the selection screen live if possible. Select Adams and Golden for 2026 Week 1. Explain that historical comparison weeks require the same prediction cutoff as a forecast. Show that the interface accepts two distinct players and includes team context when available. Allow about 45 seconds for this demonstration.</a:t>
            </a:r>
          </a:p>
          <a:p xmlns:a="http://schemas.openxmlformats.org/drawingml/2006/main">
            <a:r>
              <a:t>Evidence: local Flask implementation captured October 11, 2026. Sources and manifests accompany the project. nflverse: https://github.com/nflverse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two projected totals. Explain that the recommendation comes from the forecast gap, while the displayed range is illustrative and comes from validation residuals. It is not a calibrated individual-player confidence interval. Save the actual outcomes for the findings section. Source: results/enhanced/verified_week1.json.</a:t>
            </a:r>
          </a:p>
          <a:p xmlns:a="http://schemas.openxmlformats.org/drawingml/2006/main">
            <a:r>
              <a:t>Evidence: local Flask implementation captured October 11, 2026. Sources and manifests accompany the project. nflverse: https://github.com/nflverse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statistics table and explain target share as the receiver share of team targets. Describe snap share as playing time, which differs from routes run. Explain the red-zone denominator and that defensive context comes from previous games. The highlighted statistics are descriptive comparisons, not proof of how the model reached its prediction.</a:t>
            </a:r>
          </a:p>
          <a:p xmlns:a="http://schemas.openxmlformats.org/drawingml/2006/main">
            <a:r>
              <a:t>Evidence: local Flask implementation captured October 11, 2026. Sources and manifests accompany the project. nflverse: https://github.com/nflverse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the methodology area and point to the limits. The source audit found snap coverage around 96 percent and drop coverage around 77 percent. Training medians handle missing model inputs. Explain why using historical game-day weather would leak information into a pregame prediction and why the current model excludes it.</a:t>
            </a:r>
          </a:p>
          <a:p xmlns:a="http://schemas.openxmlformats.org/drawingml/2006/main">
            <a:r>
              <a:t>Evidence: local Flask implementation captured October 11, 2026. Sources and manifests accompany the project. nflverse: https://github.com/nflverse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the same-player error and correct it. Explain that a model requires at least three historical appearances before returning a forecast. The automated checks cover API validation and cutoff behavior. A future user study will determine whether people understand these messages and the comparisons.</a:t>
            </a:r>
          </a:p>
          <a:p xmlns:a="http://schemas.openxmlformats.org/drawingml/2006/main">
            <a:r>
              <a:t>Evidence: local Flask implementation captured October 11, 2026. Sources and manifests accompany the project. nflverse: https://github.com/nflverse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three-game and eight-game windows and the recent usage trends. The model predicts targets, catches, yards, touchdowns and other scoring, then calculates PPR. There is no arbitrary hot-streak boost. Training includes 5,168 appearances. Fourteen automated checks pass, including a check that changing current and future outcomes does not change features.</a:t>
            </a:r>
          </a:p>
          <a:p xmlns:a="http://schemas.openxmlformats.org/drawingml/2006/main">
            <a:r>
              <a:t>Evidence: local Flask implementation captured October 11, 2026. Sources and manifests accompany the project. nflverse: https://github.com/nflverse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mean absolute error as average distance between predicted and actual points. Lower is better. The enhanced model does not beat the eight-game active-appearance average on 2025 MAE, but its RMSE is lower. The 2026 improvement is small. Explain that 2026 outcomes were previously inspected, so this is not an untouched test. Source: results/enhanced/evaluation.json.</a:t>
            </a:r>
          </a:p>
          <a:p xmlns:a="http://schemas.openxmlformats.org/drawingml/2006/main">
            <a:r>
              <a:t>Evidence: local Flask implementation captured October 11, 2026. Sources and manifests accompany the project. nflverse: https://github.com/nflverse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five Week 1 league scores match the source data. Although average error improves against the original recorded-game baseline, the Adams versus Golden recommendation is wrong. Discuss why single-week outcomes remain uncertain. The larger evaluation uses an active-appearance baseline, so identify the baseline difference. Weeks 2 through 4 still need league confirmation.</a:t>
            </a:r>
          </a:p>
          <a:p xmlns:a="http://schemas.openxmlformats.org/drawingml/2006/main">
            <a:r>
              <a:t>Evidence: local Flask implementation captured October 11, 2026. Sources and manifests accompany the project. nflverse: https://github.com/nflverse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Adapt this reflection to your own experience before recording. Discuss the challenge of incomplete data, correctly counting zero-event appearances and avoiding future information. Show the functional decomposition and planning PDFs briefly if the professor expects them in the recording. Confirm the exact December deadline. User acceptance, GitHub publication and a separate-machine installation are pending and must not be presented as completed.</a:t>
            </a:r>
          </a:p>
          <a:p xmlns:a="http://schemas.openxmlformats.org/drawingml/2006/main">
            <a:r>
              <a:t>Evidence: local Flask implementation captured October 11, 2026. Sources and manifests accompany the project. nflverse: https://github.com/nflverse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a2fe4d69d664b0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7016be05edc43b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8fdc39f98954ea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74c4a13fb75499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48e904074ca469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2ca32ef0ffd42b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84ACCDF-50E7-447E-A2AD-ED637E3B900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4875C3E-4664-4B58-AE9E-53F629789C1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53643B6-1DCE-4C53-9E7D-FB5C11F0A4E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792D2CA-0A1D-4A29-8AFF-40BA0829BE4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86EE0FB-2C67-4C25-B37C-8DFC00BD8C5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7B5F17B-2405-444E-81B1-D02F29E4C80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F78EC45-5595-45CF-B475-21750E6A6FF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0C5244A-6C79-4DEF-BD15-33DD745EED4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15AE821-113B-484E-9A73-0F758C6039B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118B4DC-D44F-40D8-94EE-6A8B5D0A24D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f29e3cb9b844b09" /><Relationship Type="http://schemas.openxmlformats.org/officeDocument/2006/relationships/slideLayout" Target="/ppt/slideLayouts/slideLayout1.xml" Id="Re54b40f03a4e4133" /><Relationship Type="http://schemas.openxmlformats.org/officeDocument/2006/relationships/slideLayout" Target="/ppt/slideLayouts/slideLayout2.xml" Id="Re2e968a399e74d68" /><Relationship Type="http://schemas.openxmlformats.org/officeDocument/2006/relationships/slideLayout" Target="/ppt/slideLayouts/slideLayout3.xml" Id="R8e86774edc544bdc" /><Relationship Type="http://schemas.openxmlformats.org/officeDocument/2006/relationships/slideLayout" Target="/ppt/slideLayouts/slideLayout4.xml" Id="Rc3808d7a80ac4d82" /><Relationship Type="http://schemas.openxmlformats.org/officeDocument/2006/relationships/slideLayout" Target="/ppt/slideLayouts/slideLayout5.xml" Id="R397501c0ccae4096" /><Relationship Type="http://schemas.openxmlformats.org/officeDocument/2006/relationships/slideLayout" Target="/ppt/slideLayouts/slideLayout6.xml" Id="R929965dbc1e1406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54b40f03a4e4133"/>
    <p:sldLayoutId xmlns:r="http://schemas.openxmlformats.org/officeDocument/2006/relationships" id="2147483650" r:id="Re2e968a399e74d68"/>
    <p:sldLayoutId xmlns:r="http://schemas.openxmlformats.org/officeDocument/2006/relationships" id="2147483651" r:id="R8e86774edc544bdc"/>
    <p:sldLayoutId xmlns:r="http://schemas.openxmlformats.org/officeDocument/2006/relationships" id="2147483652" r:id="Rc3808d7a80ac4d82"/>
    <p:sldLayoutId xmlns:r="http://schemas.openxmlformats.org/officeDocument/2006/relationships" id="2147483653" r:id="R397501c0ccae4096"/>
    <p:sldLayoutId xmlns:r="http://schemas.openxmlformats.org/officeDocument/2006/relationships" id="2147483654" r:id="R929965dbc1e1406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98e944127e946a0" /><Relationship Type="http://schemas.openxmlformats.org/officeDocument/2006/relationships/notesSlide" Target="/ppt/notesSlides/notesSlide1.xml" Id="Re6bfeed91781479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7685ba428fd4905" /><Relationship Type="http://schemas.openxmlformats.org/officeDocument/2006/relationships/notesSlide" Target="/ppt/notesSlides/notesSlide2.xml" Id="R5b8b78efd765417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11cc7a3708641ca" /><Relationship Type="http://schemas.openxmlformats.org/officeDocument/2006/relationships/notesSlide" Target="/ppt/notesSlides/notesSlide3.xml" Id="R79758c800f584ef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465d97c46e745f5" /><Relationship Type="http://schemas.openxmlformats.org/officeDocument/2006/relationships/image" Target="/ppt/media/image.png" Id="R9986f07b400f48b9" /><Relationship Type="http://schemas.openxmlformats.org/officeDocument/2006/relationships/notesSlide" Target="/ppt/notesSlides/notesSlide4.xml" Id="R89246e1ca59a492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87006d18feb4e03" /><Relationship Type="http://schemas.openxmlformats.org/officeDocument/2006/relationships/image" Target="/ppt/media/image2.png" Id="R22086f3a448b47bf" /><Relationship Type="http://schemas.openxmlformats.org/officeDocument/2006/relationships/notesSlide" Target="/ppt/notesSlides/notesSlide5.xml" Id="R7b1f56e7be9944d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faaf3d55b3c4b1a" /><Relationship Type="http://schemas.openxmlformats.org/officeDocument/2006/relationships/image" Target="/ppt/media/image3.png" Id="R501874c05a264fd9" /><Relationship Type="http://schemas.openxmlformats.org/officeDocument/2006/relationships/notesSlide" Target="/ppt/notesSlides/notesSlide6.xml" Id="R4e58a0f35bf14e9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f9cf34a0fb349ec" /><Relationship Type="http://schemas.openxmlformats.org/officeDocument/2006/relationships/image" Target="/ppt/media/image4.png" Id="R32f0108ac8a24ca8" /><Relationship Type="http://schemas.openxmlformats.org/officeDocument/2006/relationships/notesSlide" Target="/ppt/notesSlides/notesSlide7.xml" Id="R6bc4f6903cfa487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43108cc75ed4b23" /><Relationship Type="http://schemas.openxmlformats.org/officeDocument/2006/relationships/image" Target="/ppt/media/image5.png" Id="Rc9cbe3223c434e53" /><Relationship Type="http://schemas.openxmlformats.org/officeDocument/2006/relationships/notesSlide" Target="/ppt/notesSlides/notesSlide8.xml" Id="Rf50872cd1d7f4f0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a37431fce6247b9" /><Relationship Type="http://schemas.openxmlformats.org/officeDocument/2006/relationships/notesSlide" Target="/ppt/notesSlides/notesSlide9.xml" Id="Ra45881e4108042d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1f2991f5f3142ea" /><Relationship Type="http://schemas.openxmlformats.org/officeDocument/2006/relationships/notesSlide" Target="/ppt/notesSlides/notesSlide10.xml" Id="Ra28a56970a8d424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5ca04660cb547e1" /><Relationship Type="http://schemas.openxmlformats.org/officeDocument/2006/relationships/notesSlide" Target="/ppt/notesSlides/notesSlide11.xml" Id="Ra6695a7a7bf4471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445374fb7f7433d" /><Relationship Type="http://schemas.openxmlformats.org/officeDocument/2006/relationships/notesSlide" Target="/ppt/notesSlides/notesSlide12.xml" Id="R856ac564f25e4244" /></Relationships>
</file>

<file path=ppt/slides/slide1.xml><?xml version="1.0" encoding="utf-8"?>
<p:sld xmlns:p="http://schemas.openxmlformats.org/presentationml/2006/main">
  <p:cSld>
    <p:bg>
      <p:bgPr>
        <a:solidFill xmlns:a="http://schemas.openxmlformats.org/drawingml/2006/main">
          <a:srgbClr val="F6F4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99F4E92-2042-4094-81AE-2BBF7C48E265}"/>
              </a:ext>
            </a:extLst>
          </p:cNvPr>
          <p:cNvSpPr>
            <a:spLocks xmlns:a="http://schemas.openxmlformats.org/drawingml/2006/main" noGrp="1"/>
          </p:cNvSpPr>
          <p:nvPr/>
        </p:nvSpPr>
        <p:spPr>
          <a:xfrm xmlns:a="http://schemas.openxmlformats.org/drawingml/2006/main">
            <a:off x="523875" y="428625"/>
            <a:ext cx="1114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4650" b="1">
                <a:solidFill>
                  <a:srgbClr val="174F3E"/>
                </a:solidFill>
                <a:latin typeface="Nimbus Sans"/>
                <a:ea typeface="Nimbus Sans"/>
                <a:cs typeface="Nimbus Sans"/>
              </a:defRPr>
            </a:defPPr>
          </a:lstStyle>
          <a:p xmlns:a="http://schemas.openxmlformats.org/drawingml/2006/main">
            <a:pPr>
              <a:defRPr sz="4650" b="1">
                <a:solidFill>
                  <a:srgbClr val="174F3E"/>
                </a:solidFill>
                <a:latin typeface="Nimbus Sans"/>
                <a:ea typeface="Nimbus Sans"/>
                <a:cs typeface="Nimbus Sans"/>
              </a:defRPr>
            </a:pPr>
            <a:r>
              <a:rPr sz="4650" b="1">
                <a:solidFill>
                  <a:srgbClr val="174F3E"/>
                </a:solidFill>
                <a:latin typeface="Nimbus Sans"/>
                <a:ea typeface="Nimbus Sans"/>
                <a:cs typeface="Nimbus Sans"/>
              </a:rPr>
              <a:t>Sideline</a:t>
            </a:r>
          </a:p>
        </p:txBody>
      </p:sp>
      <p:sp>
        <p:nvSpPr>
          <p:cNvPr id="2" name="">
            <a:extLst xmlns:a="http://schemas.openxmlformats.org/drawingml/2006/main">
              <a:ext uri="{FF2B5EF4-FFF2-40B4-BE49-F238E27FC236}">
                <a16:creationId xmlns:a16="http://schemas.microsoft.com/office/drawing/2014/main" id="{D387626F-DE37-4F79-B197-4169F2A6D5AD}"/>
              </a:ext>
            </a:extLst>
          </p:cNvPr>
          <p:cNvSpPr>
            <a:spLocks xmlns:a="http://schemas.openxmlformats.org/drawingml/2006/main" noGrp="1"/>
          </p:cNvSpPr>
          <p:nvPr/>
        </p:nvSpPr>
        <p:spPr>
          <a:xfrm xmlns:a="http://schemas.openxmlformats.org/drawingml/2006/main">
            <a:off x="552450" y="119062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C33"/>
                </a:solidFill>
                <a:latin typeface="Nimbus Sans"/>
                <a:ea typeface="Nimbus Sans"/>
                <a:cs typeface="Nimbus Sans"/>
              </a:defRPr>
            </a:defPPr>
          </a:lstStyle>
          <a:p xmlns:a="http://schemas.openxmlformats.org/drawingml/2006/main">
            <a:pPr>
              <a:defRPr sz="1875" b="0">
                <a:solidFill>
                  <a:srgbClr val="203C33"/>
                </a:solidFill>
                <a:latin typeface="Nimbus Sans"/>
                <a:ea typeface="Nimbus Sans"/>
                <a:cs typeface="Nimbus Sans"/>
              </a:defRPr>
            </a:pPr>
            <a:r>
              <a:rPr sz="1875" b="0">
                <a:solidFill>
                  <a:srgbClr val="203C33"/>
                </a:solidFill>
                <a:latin typeface="Nimbus Sans"/>
                <a:ea typeface="Nimbus Sans"/>
                <a:cs typeface="Nimbus Sans"/>
              </a:rPr>
              <a:t>Fantasy football wide receiver decision support</a:t>
            </a:r>
          </a:p>
        </p:txBody>
      </p:sp>
      <p:sp>
        <p:nvSpPr>
          <p:cNvPr id="3" name="">
            <a:extLst xmlns:a="http://schemas.openxmlformats.org/drawingml/2006/main">
              <a:ext uri="{FF2B5EF4-FFF2-40B4-BE49-F238E27FC236}">
                <a16:creationId xmlns:a16="http://schemas.microsoft.com/office/drawing/2014/main" id="{5313F314-5DC5-4AD9-B5C0-4132338E6664}"/>
              </a:ext>
            </a:extLst>
          </p:cNvPr>
          <p:cNvSpPr>
            <a:spLocks xmlns:a="http://schemas.openxmlformats.org/drawingml/2006/main" noGrp="1"/>
          </p:cNvSpPr>
          <p:nvPr/>
        </p:nvSpPr>
        <p:spPr>
          <a:xfrm xmlns:a="http://schemas.openxmlformats.org/drawingml/2006/main">
            <a:off x="552450" y="1857375"/>
            <a:ext cx="10572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203C33"/>
                </a:solidFill>
                <a:latin typeface="Nimbus Sans"/>
                <a:ea typeface="Nimbus Sans"/>
                <a:cs typeface="Nimbus Sans"/>
              </a:defRPr>
            </a:defPPr>
          </a:lstStyle>
          <a:p xmlns:a="http://schemas.openxmlformats.org/drawingml/2006/main">
            <a:pPr marL="228600" indent="-114300">
              <a:spcAft>
                <a:spcPts val="1800"/>
              </a:spcAft>
              <a:buChar char="•"/>
              <a:defRPr sz="2700" b="0">
                <a:solidFill>
                  <a:srgbClr val="203C33"/>
                </a:solidFill>
                <a:latin typeface="Nimbus Sans"/>
                <a:ea typeface="Nimbus Sans"/>
                <a:cs typeface="Nimbus Sans"/>
              </a:defRPr>
            </a:pPr>
            <a:r>
              <a:rPr sz="2700" b="0">
                <a:solidFill>
                  <a:srgbClr val="203C33"/>
                </a:solidFill>
                <a:latin typeface="Nimbus Sans"/>
                <a:ea typeface="Nimbus Sans"/>
                <a:cs typeface="Nimbus Sans"/>
              </a:rPr>
              <a:t>Python and SQL capstone</a:t>
            </a:r>
          </a:p>
          <a:p xmlns:a="http://schemas.openxmlformats.org/drawingml/2006/main">
            <a:pPr marL="228600" indent="-114300">
              <a:spcAft>
                <a:spcPts val="1800"/>
              </a:spcAft>
              <a:buChar char="•"/>
              <a:defRPr sz="2700" b="0">
                <a:solidFill>
                  <a:srgbClr val="203C33"/>
                </a:solidFill>
                <a:latin typeface="Nimbus Sans"/>
                <a:ea typeface="Nimbus Sans"/>
                <a:cs typeface="Nimbus Sans"/>
              </a:defRPr>
            </a:pPr>
            <a:r>
              <a:rPr sz="2700" b="0">
                <a:solidFill>
                  <a:srgbClr val="203C33"/>
                </a:solidFill>
                <a:latin typeface="Nimbus Sans"/>
                <a:ea typeface="Nimbus Sans"/>
                <a:cs typeface="Nimbus Sans"/>
              </a:rPr>
              <a:t>Two receivers. One PPR comparison.</a:t>
            </a:r>
          </a:p>
          <a:p xmlns:a="http://schemas.openxmlformats.org/drawingml/2006/main">
            <a:pPr marL="228600" indent="-114300">
              <a:spcAft>
                <a:spcPts val="1800"/>
              </a:spcAft>
              <a:buChar char="•"/>
              <a:defRPr sz="2700" b="0">
                <a:solidFill>
                  <a:srgbClr val="203C33"/>
                </a:solidFill>
                <a:latin typeface="Nimbus Sans"/>
                <a:ea typeface="Nimbus Sans"/>
                <a:cs typeface="Nimbus Sans"/>
              </a:defRPr>
            </a:pPr>
            <a:r>
              <a:rPr sz="2700" b="0">
                <a:solidFill>
                  <a:srgbClr val="203C33"/>
                </a:solidFill>
                <a:latin typeface="Nimbus Sans"/>
                <a:ea typeface="Nimbus Sans"/>
                <a:cs typeface="Nimbus Sans"/>
              </a:rPr>
              <a:t>Implementation and findings</a:t>
            </a:r>
          </a:p>
        </p:txBody>
      </p:sp>
      <p:sp>
        <p:nvSpPr>
          <p:cNvPr id="4" name="">
            <a:extLst xmlns:a="http://schemas.openxmlformats.org/drawingml/2006/main">
              <a:ext uri="{FF2B5EF4-FFF2-40B4-BE49-F238E27FC236}">
                <a16:creationId xmlns:a16="http://schemas.microsoft.com/office/drawing/2014/main" id="{1F1AD097-A7AB-46AA-A42A-4349F2A65C77}"/>
              </a:ext>
            </a:extLst>
          </p:cNvPr>
          <p:cNvSpPr>
            <a:spLocks xmlns:a="http://schemas.openxmlformats.org/drawingml/2006/main" noGrp="1"/>
          </p:cNvSpPr>
          <p:nvPr/>
        </p:nvSpPr>
        <p:spPr>
          <a:xfrm xmlns:a="http://schemas.openxmlformats.org/drawingml/2006/main">
            <a:off x="552450" y="647700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203C33"/>
                </a:solidFill>
                <a:latin typeface="Nimbus Sans"/>
                <a:ea typeface="Nimbus Sans"/>
                <a:cs typeface="Nimbus Sans"/>
              </a:defRPr>
            </a:defPPr>
          </a:lstStyle>
          <a:p xmlns:a="http://schemas.openxmlformats.org/drawingml/2006/main">
            <a:pPr>
              <a:defRPr sz="1125" b="0">
                <a:solidFill>
                  <a:srgbClr val="203C33"/>
                </a:solidFill>
                <a:latin typeface="Nimbus Sans"/>
                <a:ea typeface="Nimbus Sans"/>
                <a:cs typeface="Nimbus Sans"/>
              </a:defRPr>
            </a:pPr>
            <a:r>
              <a:rPr sz="1125" b="0">
                <a:solidFill>
                  <a:srgbClr val="203C33"/>
                </a:solidFill>
                <a:latin typeface="Nimbus Sans"/>
                <a:ea typeface="Nimbus Sans"/>
                <a:cs typeface="Nimbus Sans"/>
              </a:rPr>
              <a:t>Sideline • IST 440W</a:t>
            </a:r>
          </a:p>
        </p:txBody>
      </p:sp>
      <p:sp>
        <p:nvSpPr>
          <p:cNvPr id="5" name="">
            <a:extLst xmlns:a="http://schemas.openxmlformats.org/drawingml/2006/main">
              <a:ext uri="{FF2B5EF4-FFF2-40B4-BE49-F238E27FC236}">
                <a16:creationId xmlns:a16="http://schemas.microsoft.com/office/drawing/2014/main" id="{7786A3FF-5BBD-4886-950C-FB2B8BB375F3}"/>
              </a:ext>
            </a:extLst>
          </p:cNvPr>
          <p:cNvSpPr>
            <a:spLocks xmlns:a="http://schemas.openxmlformats.org/drawingml/2006/main" noGrp="1"/>
          </p:cNvSpPr>
          <p:nvPr/>
        </p:nvSpPr>
        <p:spPr>
          <a:xfrm xmlns:a="http://schemas.openxmlformats.org/drawingml/2006/main">
            <a:off x="1123950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203C33"/>
                </a:solidFill>
                <a:latin typeface="Nimbus Sans"/>
                <a:ea typeface="Nimbus Sans"/>
                <a:cs typeface="Nimbus Sans"/>
              </a:defRPr>
            </a:defPPr>
          </a:lstStyle>
          <a:p xmlns:a="http://schemas.openxmlformats.org/drawingml/2006/main">
            <a:pPr>
              <a:defRPr sz="1125" b="0">
                <a:solidFill>
                  <a:srgbClr val="203C33"/>
                </a:solidFill>
                <a:latin typeface="Nimbus Sans"/>
                <a:ea typeface="Nimbus Sans"/>
                <a:cs typeface="Nimbus Sans"/>
              </a:defRPr>
            </a:pPr>
            <a:r>
              <a:rPr sz="1125" b="0">
                <a:solidFill>
                  <a:srgbClr val="203C33"/>
                </a:solidFill>
                <a:latin typeface="Nimbus Sans"/>
                <a:ea typeface="Nimbus Sans"/>
                <a:cs typeface="Nimbus Sans"/>
              </a:rPr>
              <a:t>01</a:t>
            </a:r>
          </a:p>
        </p:txBody>
      </p:sp>
    </p:spTree>
    <p:extLst>
      <p:ext uri="{BB962C8B-B14F-4D97-AF65-F5344CB8AC3E}">
        <p14:creationId xmlns:p14="http://schemas.microsoft.com/office/powerpoint/2010/main" val="1312703026"/>
      </p:ext>
    </p:extLst>
  </p:cSld>
</p:sld>
</file>

<file path=ppt/slides/slide2.xml><?xml version="1.0" encoding="utf-8"?>
<p:sld xmlns:p="http://schemas.openxmlformats.org/presentationml/2006/main">
  <p:cSld>
    <p:bg>
      <p:bgPr>
        <a:solidFill xmlns:a="http://schemas.openxmlformats.org/drawingml/2006/main">
          <a:srgbClr val="F6F4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A319203-E6A6-433C-83B6-D81C777661EA}"/>
              </a:ext>
            </a:extLst>
          </p:cNvPr>
          <p:cNvSpPr>
            <a:spLocks xmlns:a="http://schemas.openxmlformats.org/drawingml/2006/main" noGrp="1"/>
          </p:cNvSpPr>
          <p:nvPr/>
        </p:nvSpPr>
        <p:spPr>
          <a:xfrm xmlns:a="http://schemas.openxmlformats.org/drawingml/2006/main">
            <a:off x="523875" y="428625"/>
            <a:ext cx="1114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74F3E"/>
                </a:solidFill>
                <a:latin typeface="Nimbus Sans"/>
                <a:ea typeface="Nimbus Sans"/>
                <a:cs typeface="Nimbus Sans"/>
              </a:defRPr>
            </a:defPPr>
          </a:lstStyle>
          <a:p xmlns:a="http://schemas.openxmlformats.org/drawingml/2006/main">
            <a:pPr>
              <a:defRPr sz="3300" b="1">
                <a:solidFill>
                  <a:srgbClr val="174F3E"/>
                </a:solidFill>
                <a:latin typeface="Nimbus Sans"/>
                <a:ea typeface="Nimbus Sans"/>
                <a:cs typeface="Nimbus Sans"/>
              </a:defRPr>
            </a:pPr>
            <a:r>
              <a:rPr sz="3300" b="1">
                <a:solidFill>
                  <a:srgbClr val="174F3E"/>
                </a:solidFill>
                <a:latin typeface="Nimbus Sans"/>
                <a:ea typeface="Nimbus Sans"/>
                <a:cs typeface="Nimbus Sans"/>
              </a:rPr>
              <a:t>The problem and my contribution</a:t>
            </a:r>
          </a:p>
        </p:txBody>
      </p:sp>
      <p:sp>
        <p:nvSpPr>
          <p:cNvPr id="2" name="">
            <a:extLst xmlns:a="http://schemas.openxmlformats.org/drawingml/2006/main">
              <a:ext uri="{FF2B5EF4-FFF2-40B4-BE49-F238E27FC236}">
                <a16:creationId xmlns:a16="http://schemas.microsoft.com/office/drawing/2014/main" id="{3A4678BB-A664-4209-A316-33AEB8949F04}"/>
              </a:ext>
            </a:extLst>
          </p:cNvPr>
          <p:cNvSpPr>
            <a:spLocks xmlns:a="http://schemas.openxmlformats.org/drawingml/2006/main" noGrp="1"/>
          </p:cNvSpPr>
          <p:nvPr/>
        </p:nvSpPr>
        <p:spPr>
          <a:xfrm xmlns:a="http://schemas.openxmlformats.org/drawingml/2006/main">
            <a:off x="552450" y="119062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C33"/>
                </a:solidFill>
                <a:latin typeface="Nimbus Sans"/>
                <a:ea typeface="Nimbus Sans"/>
                <a:cs typeface="Nimbus Sans"/>
              </a:defRPr>
            </a:defPPr>
          </a:lstStyle>
          <a:p xmlns:a="http://schemas.openxmlformats.org/drawingml/2006/main">
            <a:pPr>
              <a:defRPr sz="1875" b="0">
                <a:solidFill>
                  <a:srgbClr val="203C33"/>
                </a:solidFill>
                <a:latin typeface="Nimbus Sans"/>
                <a:ea typeface="Nimbus Sans"/>
                <a:cs typeface="Nimbus Sans"/>
              </a:defRPr>
            </a:pPr>
            <a:r>
              <a:rPr sz="1875" b="0">
                <a:solidFill>
                  <a:srgbClr val="203C33"/>
                </a:solidFill>
                <a:latin typeface="Nimbus Sans"/>
                <a:ea typeface="Nimbus Sans"/>
                <a:cs typeface="Nimbus Sans"/>
              </a:rPr>
              <a:t>Why this project matters</a:t>
            </a:r>
          </a:p>
        </p:txBody>
      </p:sp>
      <p:sp>
        <p:nvSpPr>
          <p:cNvPr id="3" name="">
            <a:extLst xmlns:a="http://schemas.openxmlformats.org/drawingml/2006/main">
              <a:ext uri="{FF2B5EF4-FFF2-40B4-BE49-F238E27FC236}">
                <a16:creationId xmlns:a16="http://schemas.microsoft.com/office/drawing/2014/main" id="{820954C4-8C61-407C-8106-884625926474}"/>
              </a:ext>
            </a:extLst>
          </p:cNvPr>
          <p:cNvSpPr>
            <a:spLocks xmlns:a="http://schemas.openxmlformats.org/drawingml/2006/main" noGrp="1"/>
          </p:cNvSpPr>
          <p:nvPr/>
        </p:nvSpPr>
        <p:spPr>
          <a:xfrm xmlns:a="http://schemas.openxmlformats.org/drawingml/2006/main">
            <a:off x="552450" y="1857375"/>
            <a:ext cx="10572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203C33"/>
                </a:solidFill>
                <a:latin typeface="Nimbus Sans"/>
                <a:ea typeface="Nimbus Sans"/>
                <a:cs typeface="Nimbus Sans"/>
              </a:defRPr>
            </a:defPPr>
          </a:lstStyle>
          <a:p xmlns:a="http://schemas.openxmlformats.org/drawingml/2006/main">
            <a:pPr marL="228600" indent="-114300">
              <a:spcAft>
                <a:spcPts val="1800"/>
              </a:spcAft>
              <a:buChar char="•"/>
              <a:defRPr sz="2700" b="0">
                <a:solidFill>
                  <a:srgbClr val="203C33"/>
                </a:solidFill>
                <a:latin typeface="Nimbus Sans"/>
                <a:ea typeface="Nimbus Sans"/>
                <a:cs typeface="Nimbus Sans"/>
              </a:defRPr>
            </a:pPr>
            <a:r>
              <a:rPr sz="2700" b="0">
                <a:solidFill>
                  <a:srgbClr val="203C33"/>
                </a:solidFill>
                <a:latin typeface="Nimbus Sans"/>
                <a:ea typeface="Nimbus Sans"/>
                <a:cs typeface="Nimbus Sans"/>
              </a:rPr>
              <a:t>Fantasy users often compare names or recent scores.</a:t>
            </a:r>
          </a:p>
          <a:p xmlns:a="http://schemas.openxmlformats.org/drawingml/2006/main">
            <a:pPr marL="228600" indent="-114300">
              <a:spcAft>
                <a:spcPts val="1800"/>
              </a:spcAft>
              <a:buChar char="•"/>
              <a:defRPr sz="2700" b="0">
                <a:solidFill>
                  <a:srgbClr val="203C33"/>
                </a:solidFill>
                <a:latin typeface="Nimbus Sans"/>
                <a:ea typeface="Nimbus Sans"/>
                <a:cs typeface="Nimbus Sans"/>
              </a:defRPr>
            </a:pPr>
            <a:r>
              <a:rPr sz="2700" b="0">
                <a:solidFill>
                  <a:srgbClr val="203C33"/>
                </a:solidFill>
                <a:latin typeface="Nimbus Sans"/>
                <a:ea typeface="Nimbus Sans"/>
                <a:cs typeface="Nimbus Sans"/>
              </a:rPr>
              <a:t>Useful opportunity and matchup statistics take time to find.</a:t>
            </a:r>
          </a:p>
          <a:p xmlns:a="http://schemas.openxmlformats.org/drawingml/2006/main">
            <a:pPr marL="228600" indent="-114300">
              <a:spcAft>
                <a:spcPts val="1800"/>
              </a:spcAft>
              <a:buChar char="•"/>
              <a:defRPr sz="2700" b="0">
                <a:solidFill>
                  <a:srgbClr val="203C33"/>
                </a:solidFill>
                <a:latin typeface="Nimbus Sans"/>
                <a:ea typeface="Nimbus Sans"/>
                <a:cs typeface="Nimbus Sans"/>
              </a:defRPr>
            </a:pPr>
            <a:r>
              <a:rPr sz="2700" b="0">
                <a:solidFill>
                  <a:srgbClr val="203C33"/>
                </a:solidFill>
                <a:latin typeface="Nimbus Sans"/>
                <a:ea typeface="Nimbus Sans"/>
                <a:cs typeface="Nimbus Sans"/>
              </a:rPr>
              <a:t>Sideline brings those inputs into one comparison table.</a:t>
            </a:r>
          </a:p>
          <a:p xmlns:a="http://schemas.openxmlformats.org/drawingml/2006/main">
            <a:pPr marL="228600" indent="-114300">
              <a:spcAft>
                <a:spcPts val="1800"/>
              </a:spcAft>
              <a:buChar char="•"/>
              <a:defRPr sz="2700" b="0">
                <a:solidFill>
                  <a:srgbClr val="203C33"/>
                </a:solidFill>
                <a:latin typeface="Nimbus Sans"/>
                <a:ea typeface="Nimbus Sans"/>
                <a:cs typeface="Nimbus Sans"/>
              </a:defRPr>
            </a:pPr>
            <a:r>
              <a:rPr sz="2700" b="0">
                <a:solidFill>
                  <a:srgbClr val="203C33"/>
                </a:solidFill>
                <a:latin typeface="Nimbus Sans"/>
                <a:ea typeface="Nimbus Sans"/>
                <a:cs typeface="Nimbus Sans"/>
              </a:rPr>
              <a:t>The contribution is accessible evidence for a lineup decision.</a:t>
            </a:r>
          </a:p>
        </p:txBody>
      </p:sp>
      <p:sp>
        <p:nvSpPr>
          <p:cNvPr id="4" name="">
            <a:extLst xmlns:a="http://schemas.openxmlformats.org/drawingml/2006/main">
              <a:ext uri="{FF2B5EF4-FFF2-40B4-BE49-F238E27FC236}">
                <a16:creationId xmlns:a16="http://schemas.microsoft.com/office/drawing/2014/main" id="{66013802-B3EE-4BB0-9389-512A673A002B}"/>
              </a:ext>
            </a:extLst>
          </p:cNvPr>
          <p:cNvSpPr>
            <a:spLocks xmlns:a="http://schemas.openxmlformats.org/drawingml/2006/main" noGrp="1"/>
          </p:cNvSpPr>
          <p:nvPr/>
        </p:nvSpPr>
        <p:spPr>
          <a:xfrm xmlns:a="http://schemas.openxmlformats.org/drawingml/2006/main">
            <a:off x="552450" y="647700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203C33"/>
                </a:solidFill>
                <a:latin typeface="Nimbus Sans"/>
                <a:ea typeface="Nimbus Sans"/>
                <a:cs typeface="Nimbus Sans"/>
              </a:defRPr>
            </a:defPPr>
          </a:lstStyle>
          <a:p xmlns:a="http://schemas.openxmlformats.org/drawingml/2006/main">
            <a:pPr>
              <a:defRPr sz="1125" b="0">
                <a:solidFill>
                  <a:srgbClr val="203C33"/>
                </a:solidFill>
                <a:latin typeface="Nimbus Sans"/>
                <a:ea typeface="Nimbus Sans"/>
                <a:cs typeface="Nimbus Sans"/>
              </a:defRPr>
            </a:pPr>
            <a:r>
              <a:rPr sz="1125" b="0">
                <a:solidFill>
                  <a:srgbClr val="203C33"/>
                </a:solidFill>
                <a:latin typeface="Nimbus Sans"/>
                <a:ea typeface="Nimbus Sans"/>
                <a:cs typeface="Nimbus Sans"/>
              </a:rPr>
              <a:t>Sideline • IST 440W</a:t>
            </a:r>
          </a:p>
        </p:txBody>
      </p:sp>
      <p:sp>
        <p:nvSpPr>
          <p:cNvPr id="5" name="">
            <a:extLst xmlns:a="http://schemas.openxmlformats.org/drawingml/2006/main">
              <a:ext uri="{FF2B5EF4-FFF2-40B4-BE49-F238E27FC236}">
                <a16:creationId xmlns:a16="http://schemas.microsoft.com/office/drawing/2014/main" id="{B7C89437-BE8D-4DC9-BD94-00CAD72E0BD0}"/>
              </a:ext>
            </a:extLst>
          </p:cNvPr>
          <p:cNvSpPr>
            <a:spLocks xmlns:a="http://schemas.openxmlformats.org/drawingml/2006/main" noGrp="1"/>
          </p:cNvSpPr>
          <p:nvPr/>
        </p:nvSpPr>
        <p:spPr>
          <a:xfrm xmlns:a="http://schemas.openxmlformats.org/drawingml/2006/main">
            <a:off x="1123950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203C33"/>
                </a:solidFill>
                <a:latin typeface="Nimbus Sans"/>
                <a:ea typeface="Nimbus Sans"/>
                <a:cs typeface="Nimbus Sans"/>
              </a:defRPr>
            </a:defPPr>
          </a:lstStyle>
          <a:p xmlns:a="http://schemas.openxmlformats.org/drawingml/2006/main">
            <a:pPr>
              <a:defRPr sz="1125" b="0">
                <a:solidFill>
                  <a:srgbClr val="203C33"/>
                </a:solidFill>
                <a:latin typeface="Nimbus Sans"/>
                <a:ea typeface="Nimbus Sans"/>
                <a:cs typeface="Nimbus Sans"/>
              </a:defRPr>
            </a:pPr>
            <a:r>
              <a:rPr sz="1125" b="0">
                <a:solidFill>
                  <a:srgbClr val="203C33"/>
                </a:solidFill>
                <a:latin typeface="Nimbus Sans"/>
                <a:ea typeface="Nimbus Sans"/>
                <a:cs typeface="Nimbus Sans"/>
              </a:rPr>
              <a:t>02</a:t>
            </a:r>
          </a:p>
        </p:txBody>
      </p:sp>
    </p:spTree>
    <p:extLst>
      <p:ext uri="{BB962C8B-B14F-4D97-AF65-F5344CB8AC3E}">
        <p14:creationId xmlns:p14="http://schemas.microsoft.com/office/powerpoint/2010/main" val="1744466561"/>
      </p:ext>
    </p:extLst>
  </p:cSld>
</p:sld>
</file>

<file path=ppt/slides/slide3.xml><?xml version="1.0" encoding="utf-8"?>
<p:sld xmlns:p="http://schemas.openxmlformats.org/presentationml/2006/main">
  <p:cSld>
    <p:bg>
      <p:bgPr>
        <a:solidFill xmlns:a="http://schemas.openxmlformats.org/drawingml/2006/main">
          <a:srgbClr val="F6F4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231957C-144C-4E56-BBD8-06F7E89E8B15}"/>
              </a:ext>
            </a:extLst>
          </p:cNvPr>
          <p:cNvSpPr>
            <a:spLocks xmlns:a="http://schemas.openxmlformats.org/drawingml/2006/main" noGrp="1"/>
          </p:cNvSpPr>
          <p:nvPr/>
        </p:nvSpPr>
        <p:spPr>
          <a:xfrm xmlns:a="http://schemas.openxmlformats.org/drawingml/2006/main">
            <a:off x="523875" y="428625"/>
            <a:ext cx="1114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74F3E"/>
                </a:solidFill>
                <a:latin typeface="Nimbus Sans"/>
                <a:ea typeface="Nimbus Sans"/>
                <a:cs typeface="Nimbus Sans"/>
              </a:defRPr>
            </a:defPPr>
          </a:lstStyle>
          <a:p xmlns:a="http://schemas.openxmlformats.org/drawingml/2006/main">
            <a:pPr>
              <a:defRPr sz="3300" b="1">
                <a:solidFill>
                  <a:srgbClr val="174F3E"/>
                </a:solidFill>
                <a:latin typeface="Nimbus Sans"/>
                <a:ea typeface="Nimbus Sans"/>
                <a:cs typeface="Nimbus Sans"/>
              </a:defRPr>
            </a:pPr>
            <a:r>
              <a:rPr sz="3300" b="1">
                <a:solidFill>
                  <a:srgbClr val="174F3E"/>
                </a:solidFill>
                <a:latin typeface="Nimbus Sans"/>
                <a:ea typeface="Nimbus Sans"/>
                <a:cs typeface="Nimbus Sans"/>
              </a:rPr>
              <a:t>Project scope</a:t>
            </a:r>
          </a:p>
        </p:txBody>
      </p:sp>
      <p:sp>
        <p:nvSpPr>
          <p:cNvPr id="2" name="">
            <a:extLst xmlns:a="http://schemas.openxmlformats.org/drawingml/2006/main">
              <a:ext uri="{FF2B5EF4-FFF2-40B4-BE49-F238E27FC236}">
                <a16:creationId xmlns:a16="http://schemas.microsoft.com/office/drawing/2014/main" id="{30DD3E98-9EC3-4FF2-92B3-FED63DA2AC7B}"/>
              </a:ext>
            </a:extLst>
          </p:cNvPr>
          <p:cNvSpPr>
            <a:spLocks xmlns:a="http://schemas.openxmlformats.org/drawingml/2006/main" noGrp="1"/>
          </p:cNvSpPr>
          <p:nvPr/>
        </p:nvSpPr>
        <p:spPr>
          <a:xfrm xmlns:a="http://schemas.openxmlformats.org/drawingml/2006/main">
            <a:off x="552450" y="119062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C33"/>
                </a:solidFill>
                <a:latin typeface="Nimbus Sans"/>
                <a:ea typeface="Nimbus Sans"/>
                <a:cs typeface="Nimbus Sans"/>
              </a:defRPr>
            </a:defPPr>
          </a:lstStyle>
          <a:p xmlns:a="http://schemas.openxmlformats.org/drawingml/2006/main">
            <a:pPr>
              <a:defRPr sz="1875" b="0">
                <a:solidFill>
                  <a:srgbClr val="203C33"/>
                </a:solidFill>
                <a:latin typeface="Nimbus Sans"/>
                <a:ea typeface="Nimbus Sans"/>
                <a:cs typeface="Nimbus Sans"/>
              </a:defRPr>
            </a:pPr>
            <a:r>
              <a:rPr sz="1875" b="0">
                <a:solidFill>
                  <a:srgbClr val="203C33"/>
                </a:solidFill>
                <a:latin typeface="Nimbus Sans"/>
                <a:ea typeface="Nimbus Sans"/>
                <a:cs typeface="Nimbus Sans"/>
              </a:rPr>
              <a:t>A focused implementation</a:t>
            </a:r>
          </a:p>
        </p:txBody>
      </p:sp>
      <p:sp>
        <p:nvSpPr>
          <p:cNvPr id="3" name="">
            <a:extLst xmlns:a="http://schemas.openxmlformats.org/drawingml/2006/main">
              <a:ext uri="{FF2B5EF4-FFF2-40B4-BE49-F238E27FC236}">
                <a16:creationId xmlns:a16="http://schemas.microsoft.com/office/drawing/2014/main" id="{EE2D6ED9-CA8D-4D61-A59C-AD4B11C6F4F8}"/>
              </a:ext>
            </a:extLst>
          </p:cNvPr>
          <p:cNvSpPr>
            <a:spLocks xmlns:a="http://schemas.openxmlformats.org/drawingml/2006/main" noGrp="1"/>
          </p:cNvSpPr>
          <p:nvPr/>
        </p:nvSpPr>
        <p:spPr>
          <a:xfrm xmlns:a="http://schemas.openxmlformats.org/drawingml/2006/main">
            <a:off x="552450" y="1857375"/>
            <a:ext cx="10572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203C33"/>
                </a:solidFill>
                <a:latin typeface="Nimbus Sans"/>
                <a:ea typeface="Nimbus Sans"/>
                <a:cs typeface="Nimbus Sans"/>
              </a:defRPr>
            </a:defPPr>
          </a:lstStyle>
          <a:p xmlns:a="http://schemas.openxmlformats.org/drawingml/2006/main">
            <a:pPr marL="228600" indent="-114300">
              <a:spcAft>
                <a:spcPts val="1800"/>
              </a:spcAft>
              <a:buChar char="•"/>
              <a:defRPr sz="2700" b="0">
                <a:solidFill>
                  <a:srgbClr val="203C33"/>
                </a:solidFill>
                <a:latin typeface="Nimbus Sans"/>
                <a:ea typeface="Nimbus Sans"/>
                <a:cs typeface="Nimbus Sans"/>
              </a:defRPr>
            </a:pPr>
            <a:r>
              <a:rPr sz="2700" b="0">
                <a:solidFill>
                  <a:srgbClr val="203C33"/>
                </a:solidFill>
                <a:latin typeface="Nimbus Sans"/>
                <a:ea typeface="Nimbus Sans"/>
                <a:cs typeface="Nimbus Sans"/>
              </a:rPr>
              <a:t>Wide receivers only keeps the project manageable.</a:t>
            </a:r>
          </a:p>
          <a:p xmlns:a="http://schemas.openxmlformats.org/drawingml/2006/main">
            <a:pPr marL="228600" indent="-114300">
              <a:spcAft>
                <a:spcPts val="1800"/>
              </a:spcAft>
              <a:buChar char="•"/>
              <a:defRPr sz="2700" b="0">
                <a:solidFill>
                  <a:srgbClr val="203C33"/>
                </a:solidFill>
                <a:latin typeface="Nimbus Sans"/>
                <a:ea typeface="Nimbus Sans"/>
                <a:cs typeface="Nimbus Sans"/>
              </a:defRPr>
            </a:pPr>
            <a:r>
              <a:rPr sz="2700" b="0">
                <a:solidFill>
                  <a:srgbClr val="203C33"/>
                </a:solidFill>
                <a:latin typeface="Nimbus Sans"/>
                <a:ea typeface="Nimbus Sans"/>
                <a:cs typeface="Nimbus Sans"/>
              </a:rPr>
              <a:t>Full PPR scores provide a consistent outcome.</a:t>
            </a:r>
          </a:p>
          <a:p xmlns:a="http://schemas.openxmlformats.org/drawingml/2006/main">
            <a:pPr marL="228600" indent="-114300">
              <a:spcAft>
                <a:spcPts val="1800"/>
              </a:spcAft>
              <a:buChar char="•"/>
              <a:defRPr sz="2700" b="0">
                <a:solidFill>
                  <a:srgbClr val="203C33"/>
                </a:solidFill>
                <a:latin typeface="Nimbus Sans"/>
                <a:ea typeface="Nimbus Sans"/>
                <a:cs typeface="Nimbus Sans"/>
              </a:defRPr>
            </a:pPr>
            <a:r>
              <a:rPr sz="2700" b="0">
                <a:solidFill>
                  <a:srgbClr val="203C33"/>
                </a:solidFill>
                <a:latin typeface="Nimbus Sans"/>
                <a:ea typeface="Nimbus Sans"/>
                <a:cs typeface="Nimbus Sans"/>
              </a:rPr>
              <a:t>SQLite stores player, game and performance records.</a:t>
            </a:r>
          </a:p>
          <a:p xmlns:a="http://schemas.openxmlformats.org/drawingml/2006/main">
            <a:pPr marL="228600" indent="-114300">
              <a:spcAft>
                <a:spcPts val="1800"/>
              </a:spcAft>
              <a:buChar char="•"/>
              <a:defRPr sz="2700" b="0">
                <a:solidFill>
                  <a:srgbClr val="203C33"/>
                </a:solidFill>
                <a:latin typeface="Nimbus Sans"/>
                <a:ea typeface="Nimbus Sans"/>
                <a:cs typeface="Nimbus Sans"/>
              </a:defRPr>
            </a:pPr>
            <a:r>
              <a:rPr sz="2700" b="0">
                <a:solidFill>
                  <a:srgbClr val="203C33"/>
                </a:solidFill>
                <a:latin typeface="Nimbus Sans"/>
                <a:ea typeface="Nimbus Sans"/>
                <a:cs typeface="Nimbus Sans"/>
              </a:rPr>
              <a:t>Python builds features, trains the model and serves the app.</a:t>
            </a:r>
          </a:p>
        </p:txBody>
      </p:sp>
      <p:sp>
        <p:nvSpPr>
          <p:cNvPr id="4" name="">
            <a:extLst xmlns:a="http://schemas.openxmlformats.org/drawingml/2006/main">
              <a:ext uri="{FF2B5EF4-FFF2-40B4-BE49-F238E27FC236}">
                <a16:creationId xmlns:a16="http://schemas.microsoft.com/office/drawing/2014/main" id="{379B6261-CED7-43A5-941D-6B19507358D0}"/>
              </a:ext>
            </a:extLst>
          </p:cNvPr>
          <p:cNvSpPr>
            <a:spLocks xmlns:a="http://schemas.openxmlformats.org/drawingml/2006/main" noGrp="1"/>
          </p:cNvSpPr>
          <p:nvPr/>
        </p:nvSpPr>
        <p:spPr>
          <a:xfrm xmlns:a="http://schemas.openxmlformats.org/drawingml/2006/main">
            <a:off x="552450" y="647700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203C33"/>
                </a:solidFill>
                <a:latin typeface="Nimbus Sans"/>
                <a:ea typeface="Nimbus Sans"/>
                <a:cs typeface="Nimbus Sans"/>
              </a:defRPr>
            </a:defPPr>
          </a:lstStyle>
          <a:p xmlns:a="http://schemas.openxmlformats.org/drawingml/2006/main">
            <a:pPr>
              <a:defRPr sz="1125" b="0">
                <a:solidFill>
                  <a:srgbClr val="203C33"/>
                </a:solidFill>
                <a:latin typeface="Nimbus Sans"/>
                <a:ea typeface="Nimbus Sans"/>
                <a:cs typeface="Nimbus Sans"/>
              </a:defRPr>
            </a:pPr>
            <a:r>
              <a:rPr sz="1125" b="0">
                <a:solidFill>
                  <a:srgbClr val="203C33"/>
                </a:solidFill>
                <a:latin typeface="Nimbus Sans"/>
                <a:ea typeface="Nimbus Sans"/>
                <a:cs typeface="Nimbus Sans"/>
              </a:rPr>
              <a:t>Sideline • IST 440W</a:t>
            </a:r>
          </a:p>
        </p:txBody>
      </p:sp>
      <p:sp>
        <p:nvSpPr>
          <p:cNvPr id="5" name="">
            <a:extLst xmlns:a="http://schemas.openxmlformats.org/drawingml/2006/main">
              <a:ext uri="{FF2B5EF4-FFF2-40B4-BE49-F238E27FC236}">
                <a16:creationId xmlns:a16="http://schemas.microsoft.com/office/drawing/2014/main" id="{CED63D49-0D55-4447-888F-6C376BF7C007}"/>
              </a:ext>
            </a:extLst>
          </p:cNvPr>
          <p:cNvSpPr>
            <a:spLocks xmlns:a="http://schemas.openxmlformats.org/drawingml/2006/main" noGrp="1"/>
          </p:cNvSpPr>
          <p:nvPr/>
        </p:nvSpPr>
        <p:spPr>
          <a:xfrm xmlns:a="http://schemas.openxmlformats.org/drawingml/2006/main">
            <a:off x="1123950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203C33"/>
                </a:solidFill>
                <a:latin typeface="Nimbus Sans"/>
                <a:ea typeface="Nimbus Sans"/>
                <a:cs typeface="Nimbus Sans"/>
              </a:defRPr>
            </a:defPPr>
          </a:lstStyle>
          <a:p xmlns:a="http://schemas.openxmlformats.org/drawingml/2006/main">
            <a:pPr>
              <a:defRPr sz="1125" b="0">
                <a:solidFill>
                  <a:srgbClr val="203C33"/>
                </a:solidFill>
                <a:latin typeface="Nimbus Sans"/>
                <a:ea typeface="Nimbus Sans"/>
                <a:cs typeface="Nimbus Sans"/>
              </a:defRPr>
            </a:pPr>
            <a:r>
              <a:rPr sz="1125" b="0">
                <a:solidFill>
                  <a:srgbClr val="203C33"/>
                </a:solidFill>
                <a:latin typeface="Nimbus Sans"/>
                <a:ea typeface="Nimbus Sans"/>
                <a:cs typeface="Nimbus Sans"/>
              </a:rPr>
              <a:t>03</a:t>
            </a:r>
          </a:p>
        </p:txBody>
      </p:sp>
    </p:spTree>
    <p:extLst>
      <p:ext uri="{BB962C8B-B14F-4D97-AF65-F5344CB8AC3E}">
        <p14:creationId xmlns:p14="http://schemas.microsoft.com/office/powerpoint/2010/main" val="1269702340"/>
      </p:ext>
    </p:extLst>
  </p:cSld>
</p:sld>
</file>

<file path=ppt/slides/slide4.xml><?xml version="1.0" encoding="utf-8"?>
<p:sld xmlns:p="http://schemas.openxmlformats.org/presentationml/2006/main">
  <p:cSld>
    <p:bg>
      <p:bgPr>
        <a:solidFill xmlns:a="http://schemas.openxmlformats.org/drawingml/2006/main">
          <a:srgbClr val="F6F4E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CE934B7-0BED-4D4A-A0CC-9420446ACDD5}"/>
              </a:ext>
            </a:extLst>
          </p:cNvPr>
          <p:cNvSpPr>
            <a:spLocks xmlns:a="http://schemas.openxmlformats.org/drawingml/2006/main" noGrp="1"/>
          </p:cNvSpPr>
          <p:nvPr/>
        </p:nvSpPr>
        <p:spPr>
          <a:xfrm xmlns:a="http://schemas.openxmlformats.org/drawingml/2006/main">
            <a:off x="523875" y="428625"/>
            <a:ext cx="1114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74F3E"/>
                </a:solidFill>
                <a:latin typeface="Nimbus Sans"/>
                <a:ea typeface="Nimbus Sans"/>
                <a:cs typeface="Nimbus Sans"/>
              </a:defRPr>
            </a:defPPr>
          </a:lstStyle>
          <a:p xmlns:a="http://schemas.openxmlformats.org/drawingml/2006/main">
            <a:pPr>
              <a:defRPr sz="3300" b="1">
                <a:solidFill>
                  <a:srgbClr val="174F3E"/>
                </a:solidFill>
                <a:latin typeface="Nimbus Sans"/>
                <a:ea typeface="Nimbus Sans"/>
                <a:cs typeface="Nimbus Sans"/>
              </a:defRPr>
            </a:pPr>
            <a:r>
              <a:rPr sz="3300" b="1">
                <a:solidFill>
                  <a:srgbClr val="174F3E"/>
                </a:solidFill>
                <a:latin typeface="Nimbus Sans"/>
                <a:ea typeface="Nimbus Sans"/>
                <a:cs typeface="Nimbus Sans"/>
              </a:rPr>
              <a:t>Receiver selection</a:t>
            </a:r>
          </a:p>
        </p:txBody>
      </p:sp>
      <p:sp>
        <p:nvSpPr>
          <p:cNvPr id="2" name="">
            <a:extLst xmlns:a="http://schemas.openxmlformats.org/drawingml/2006/main">
              <a:ext uri="{FF2B5EF4-FFF2-40B4-BE49-F238E27FC236}">
                <a16:creationId xmlns:a16="http://schemas.microsoft.com/office/drawing/2014/main" id="{06958EA7-992F-4F31-B582-1561D9E5E860}"/>
              </a:ext>
            </a:extLst>
          </p:cNvPr>
          <p:cNvSpPr>
            <a:spLocks xmlns:a="http://schemas.openxmlformats.org/drawingml/2006/main" noGrp="1"/>
          </p:cNvSpPr>
          <p:nvPr/>
        </p:nvSpPr>
        <p:spPr>
          <a:xfrm xmlns:a="http://schemas.openxmlformats.org/drawingml/2006/main">
            <a:off x="552450" y="119062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C33"/>
                </a:solidFill>
                <a:latin typeface="Nimbus Sans"/>
                <a:ea typeface="Nimbus Sans"/>
                <a:cs typeface="Nimbus Sans"/>
              </a:defRPr>
            </a:defPPr>
          </a:lstStyle>
          <a:p xmlns:a="http://schemas.openxmlformats.org/drawingml/2006/main">
            <a:pPr>
              <a:defRPr sz="1875" b="0">
                <a:solidFill>
                  <a:srgbClr val="203C33"/>
                </a:solidFill>
                <a:latin typeface="Nimbus Sans"/>
                <a:ea typeface="Nimbus Sans"/>
                <a:cs typeface="Nimbus Sans"/>
              </a:defRPr>
            </a:pPr>
            <a:r>
              <a:rPr sz="1875" b="0">
                <a:solidFill>
                  <a:srgbClr val="203C33"/>
                </a:solidFill>
                <a:latin typeface="Nimbus Sans"/>
                <a:ea typeface="Nimbus Sans"/>
                <a:cs typeface="Nimbus Sans"/>
              </a:rPr>
              <a:t>The working application</a:t>
            </a:r>
          </a:p>
        </p:txBody>
      </p:sp>
      <p:sp>
        <p:nvSpPr>
          <p:cNvPr id="3" name="">
            <a:extLst xmlns:a="http://schemas.openxmlformats.org/drawingml/2006/main">
              <a:ext uri="{FF2B5EF4-FFF2-40B4-BE49-F238E27FC236}">
                <a16:creationId xmlns:a16="http://schemas.microsoft.com/office/drawing/2014/main" id="{70B96DC8-C1CF-4B11-8AAE-7015D0DFE94E}"/>
              </a:ext>
            </a:extLst>
          </p:cNvPr>
          <p:cNvSpPr>
            <a:spLocks xmlns:a="http://schemas.openxmlformats.org/drawingml/2006/main" noGrp="1"/>
          </p:cNvSpPr>
          <p:nvPr/>
        </p:nvSpPr>
        <p:spPr>
          <a:xfrm xmlns:a="http://schemas.openxmlformats.org/drawingml/2006/main">
            <a:off x="552450" y="1857375"/>
            <a:ext cx="4191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203C33"/>
                </a:solidFill>
                <a:latin typeface="Nimbus Sans"/>
                <a:ea typeface="Nimbus Sans"/>
                <a:cs typeface="Nimbus Sans"/>
              </a:defRPr>
            </a:defPPr>
          </a:lstStyle>
          <a:p xmlns:a="http://schemas.openxmlformats.org/drawingml/2006/main">
            <a:pPr marL="228600" indent="-114300">
              <a:spcAft>
                <a:spcPts val="1800"/>
              </a:spcAft>
              <a:buChar char="•"/>
              <a:defRPr sz="2175" b="0">
                <a:solidFill>
                  <a:srgbClr val="203C33"/>
                </a:solidFill>
                <a:latin typeface="Nimbus Sans"/>
                <a:ea typeface="Nimbus Sans"/>
                <a:cs typeface="Nimbus Sans"/>
              </a:defRPr>
            </a:pPr>
            <a:r>
              <a:rPr sz="2175" b="0">
                <a:solidFill>
                  <a:srgbClr val="203C33"/>
                </a:solidFill>
                <a:latin typeface="Nimbus Sans"/>
                <a:ea typeface="Nimbus Sans"/>
                <a:cs typeface="Nimbus Sans"/>
              </a:rPr>
              <a:t>Choose the season and week.</a:t>
            </a:r>
          </a:p>
          <a:p xmlns:a="http://schemas.openxmlformats.org/drawingml/2006/main">
            <a:pPr marL="228600" indent="-114300">
              <a:spcAft>
                <a:spcPts val="1800"/>
              </a:spcAft>
              <a:buChar char="•"/>
              <a:defRPr sz="2175" b="0">
                <a:solidFill>
                  <a:srgbClr val="203C33"/>
                </a:solidFill>
                <a:latin typeface="Nimbus Sans"/>
                <a:ea typeface="Nimbus Sans"/>
                <a:cs typeface="Nimbus Sans"/>
              </a:defRPr>
            </a:pPr>
            <a:r>
              <a:rPr sz="2175" b="0">
                <a:solidFill>
                  <a:srgbClr val="203C33"/>
                </a:solidFill>
                <a:latin typeface="Nimbus Sans"/>
                <a:ea typeface="Nimbus Sans"/>
                <a:cs typeface="Nimbus Sans"/>
              </a:rPr>
              <a:t>Select two different wide receivers.</a:t>
            </a:r>
          </a:p>
          <a:p xmlns:a="http://schemas.openxmlformats.org/drawingml/2006/main">
            <a:pPr marL="228600" indent="-114300">
              <a:spcAft>
                <a:spcPts val="1800"/>
              </a:spcAft>
              <a:buChar char="•"/>
              <a:defRPr sz="2175" b="0">
                <a:solidFill>
                  <a:srgbClr val="203C33"/>
                </a:solidFill>
                <a:latin typeface="Nimbus Sans"/>
                <a:ea typeface="Nimbus Sans"/>
                <a:cs typeface="Nimbus Sans"/>
              </a:defRPr>
            </a:pPr>
            <a:r>
              <a:rPr sz="2175" b="0">
                <a:solidFill>
                  <a:srgbClr val="203C33"/>
                </a:solidFill>
                <a:latin typeface="Nimbus Sans"/>
                <a:ea typeface="Nimbus Sans"/>
                <a:cs typeface="Nimbus Sans"/>
              </a:rPr>
              <a:t>Submit one comparison.</a:t>
            </a:r>
          </a:p>
        </p:txBody>
      </p:sp>
      <p:pic>
        <p:nvPicPr>
          <p:cNvPr id="4" name="">
            <a:extLst xmlns:a="http://schemas.openxmlformats.org/drawingml/2006/main">
              <a:ext uri="{FF2B5EF4-FFF2-40B4-BE49-F238E27FC236}">
                <a16:creationId xmlns:a16="http://schemas.microsoft.com/office/drawing/2014/main" id="{32BDF0C4-19DF-4613-BC60-AD9E77884A0F}"/>
              </a:ext>
            </a:extLst>
          </p:cNvPr>
          <p:cNvPicPr>
            <a:picLocks xmlns:a="http://schemas.openxmlformats.org/drawingml/2006/main" noChangeAspect="1"/>
          </p:cNvPicPr>
          <p:nvPr/>
        </p:nvPicPr>
        <p:blipFill>
          <a:blip xmlns:r="http://schemas.openxmlformats.org/officeDocument/2006/relationships" xmlns:a="http://schemas.openxmlformats.org/drawingml/2006/main" r:embed="R9986f07b400f48b9"/>
          <a:stretch xmlns:a="http://schemas.openxmlformats.org/drawingml/2006/main"/>
        </p:blipFill>
        <p:spPr>
          <a:xfrm xmlns:a="http://schemas.openxmlformats.org/drawingml/2006/main">
            <a:off x="4905756" y="1809750"/>
            <a:ext cx="6761988" cy="46958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3872DDA-7CDC-4957-A706-EE8CA082EF55}"/>
              </a:ext>
            </a:extLst>
          </p:cNvPr>
          <p:cNvSpPr>
            <a:spLocks xmlns:a="http://schemas.openxmlformats.org/drawingml/2006/main" noGrp="1"/>
          </p:cNvSpPr>
          <p:nvPr/>
        </p:nvSpPr>
        <p:spPr>
          <a:xfrm xmlns:a="http://schemas.openxmlformats.org/drawingml/2006/main">
            <a:off x="552450" y="647700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203C33"/>
                </a:solidFill>
                <a:latin typeface="Nimbus Sans"/>
                <a:ea typeface="Nimbus Sans"/>
                <a:cs typeface="Nimbus Sans"/>
              </a:defRPr>
            </a:defPPr>
          </a:lstStyle>
          <a:p xmlns:a="http://schemas.openxmlformats.org/drawingml/2006/main">
            <a:pPr>
              <a:defRPr sz="1125" b="0">
                <a:solidFill>
                  <a:srgbClr val="203C33"/>
                </a:solidFill>
                <a:latin typeface="Nimbus Sans"/>
                <a:ea typeface="Nimbus Sans"/>
                <a:cs typeface="Nimbus Sans"/>
              </a:defRPr>
            </a:pPr>
            <a:r>
              <a:rPr sz="1125" b="0">
                <a:solidFill>
                  <a:srgbClr val="203C33"/>
                </a:solidFill>
                <a:latin typeface="Nimbus Sans"/>
                <a:ea typeface="Nimbus Sans"/>
                <a:cs typeface="Nimbus Sans"/>
              </a:rPr>
              <a:t>Sideline • IST 440W</a:t>
            </a:r>
          </a:p>
        </p:txBody>
      </p:sp>
      <p:sp>
        <p:nvSpPr>
          <p:cNvPr id="6" name="">
            <a:extLst xmlns:a="http://schemas.openxmlformats.org/drawingml/2006/main">
              <a:ext uri="{FF2B5EF4-FFF2-40B4-BE49-F238E27FC236}">
                <a16:creationId xmlns:a16="http://schemas.microsoft.com/office/drawing/2014/main" id="{3EDBE78D-24F6-4252-8137-4061C8D849B7}"/>
              </a:ext>
            </a:extLst>
          </p:cNvPr>
          <p:cNvSpPr>
            <a:spLocks xmlns:a="http://schemas.openxmlformats.org/drawingml/2006/main" noGrp="1"/>
          </p:cNvSpPr>
          <p:nvPr/>
        </p:nvSpPr>
        <p:spPr>
          <a:xfrm xmlns:a="http://schemas.openxmlformats.org/drawingml/2006/main">
            <a:off x="1123950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203C33"/>
                </a:solidFill>
                <a:latin typeface="Nimbus Sans"/>
                <a:ea typeface="Nimbus Sans"/>
                <a:cs typeface="Nimbus Sans"/>
              </a:defRPr>
            </a:defPPr>
          </a:lstStyle>
          <a:p xmlns:a="http://schemas.openxmlformats.org/drawingml/2006/main">
            <a:pPr>
              <a:defRPr sz="1125" b="0">
                <a:solidFill>
                  <a:srgbClr val="203C33"/>
                </a:solidFill>
                <a:latin typeface="Nimbus Sans"/>
                <a:ea typeface="Nimbus Sans"/>
                <a:cs typeface="Nimbus Sans"/>
              </a:defRPr>
            </a:pPr>
            <a:r>
              <a:rPr sz="1125" b="0">
                <a:solidFill>
                  <a:srgbClr val="203C33"/>
                </a:solidFill>
                <a:latin typeface="Nimbus Sans"/>
                <a:ea typeface="Nimbus Sans"/>
                <a:cs typeface="Nimbus Sans"/>
              </a:rPr>
              <a:t>04</a:t>
            </a:r>
          </a:p>
        </p:txBody>
      </p:sp>
    </p:spTree>
    <p:extLst>
      <p:ext uri="{BB962C8B-B14F-4D97-AF65-F5344CB8AC3E}">
        <p14:creationId xmlns:p14="http://schemas.microsoft.com/office/powerpoint/2010/main" val="1639649435"/>
      </p:ext>
    </p:extLst>
  </p:cSld>
</p:sld>
</file>

<file path=ppt/slides/slide5.xml><?xml version="1.0" encoding="utf-8"?>
<p:sld xmlns:p="http://schemas.openxmlformats.org/presentationml/2006/main">
  <p:cSld>
    <p:bg>
      <p:bgPr>
        <a:solidFill xmlns:a="http://schemas.openxmlformats.org/drawingml/2006/main">
          <a:srgbClr val="F6F4E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B6B9E1E-04DD-4EEB-AEE6-F45556B5E241}"/>
              </a:ext>
            </a:extLst>
          </p:cNvPr>
          <p:cNvSpPr>
            <a:spLocks xmlns:a="http://schemas.openxmlformats.org/drawingml/2006/main" noGrp="1"/>
          </p:cNvSpPr>
          <p:nvPr/>
        </p:nvSpPr>
        <p:spPr>
          <a:xfrm xmlns:a="http://schemas.openxmlformats.org/drawingml/2006/main">
            <a:off x="523875" y="428625"/>
            <a:ext cx="1114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74F3E"/>
                </a:solidFill>
                <a:latin typeface="Nimbus Sans"/>
                <a:ea typeface="Nimbus Sans"/>
                <a:cs typeface="Nimbus Sans"/>
              </a:defRPr>
            </a:defPPr>
          </a:lstStyle>
          <a:p xmlns:a="http://schemas.openxmlformats.org/drawingml/2006/main">
            <a:pPr>
              <a:defRPr sz="3300" b="1">
                <a:solidFill>
                  <a:srgbClr val="174F3E"/>
                </a:solidFill>
                <a:latin typeface="Nimbus Sans"/>
                <a:ea typeface="Nimbus Sans"/>
                <a:cs typeface="Nimbus Sans"/>
              </a:defRPr>
            </a:pPr>
            <a:r>
              <a:rPr sz="3300" b="1">
                <a:solidFill>
                  <a:srgbClr val="174F3E"/>
                </a:solidFill>
                <a:latin typeface="Nimbus Sans"/>
                <a:ea typeface="Nimbus Sans"/>
                <a:cs typeface="Nimbus Sans"/>
              </a:rPr>
              <a:t>Projected PPR and recommendation</a:t>
            </a:r>
          </a:p>
        </p:txBody>
      </p:sp>
      <p:sp>
        <p:nvSpPr>
          <p:cNvPr id="2" name="">
            <a:extLst xmlns:a="http://schemas.openxmlformats.org/drawingml/2006/main">
              <a:ext uri="{FF2B5EF4-FFF2-40B4-BE49-F238E27FC236}">
                <a16:creationId xmlns:a16="http://schemas.microsoft.com/office/drawing/2014/main" id="{2BD30376-2B8E-4E02-8297-3005F730FD38}"/>
              </a:ext>
            </a:extLst>
          </p:cNvPr>
          <p:cNvSpPr>
            <a:spLocks xmlns:a="http://schemas.openxmlformats.org/drawingml/2006/main" noGrp="1"/>
          </p:cNvSpPr>
          <p:nvPr/>
        </p:nvSpPr>
        <p:spPr>
          <a:xfrm xmlns:a="http://schemas.openxmlformats.org/drawingml/2006/main">
            <a:off x="552450" y="119062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C33"/>
                </a:solidFill>
                <a:latin typeface="Nimbus Sans"/>
                <a:ea typeface="Nimbus Sans"/>
                <a:cs typeface="Nimbus Sans"/>
              </a:defRPr>
            </a:defPPr>
          </a:lstStyle>
          <a:p xmlns:a="http://schemas.openxmlformats.org/drawingml/2006/main">
            <a:pPr>
              <a:defRPr sz="1875" b="0">
                <a:solidFill>
                  <a:srgbClr val="203C33"/>
                </a:solidFill>
                <a:latin typeface="Nimbus Sans"/>
                <a:ea typeface="Nimbus Sans"/>
                <a:cs typeface="Nimbus Sans"/>
              </a:defRPr>
            </a:pPr>
            <a:r>
              <a:rPr sz="1875" b="0">
                <a:solidFill>
                  <a:srgbClr val="203C33"/>
                </a:solidFill>
                <a:latin typeface="Nimbus Sans"/>
                <a:ea typeface="Nimbus Sans"/>
                <a:cs typeface="Nimbus Sans"/>
              </a:rPr>
              <a:t>What the user sees</a:t>
            </a:r>
          </a:p>
        </p:txBody>
      </p:sp>
      <p:sp>
        <p:nvSpPr>
          <p:cNvPr id="3" name="">
            <a:extLst xmlns:a="http://schemas.openxmlformats.org/drawingml/2006/main">
              <a:ext uri="{FF2B5EF4-FFF2-40B4-BE49-F238E27FC236}">
                <a16:creationId xmlns:a16="http://schemas.microsoft.com/office/drawing/2014/main" id="{FC32B523-6286-4512-868D-6F3F67ACCB3D}"/>
              </a:ext>
            </a:extLst>
          </p:cNvPr>
          <p:cNvSpPr>
            <a:spLocks xmlns:a="http://schemas.openxmlformats.org/drawingml/2006/main" noGrp="1"/>
          </p:cNvSpPr>
          <p:nvPr/>
        </p:nvSpPr>
        <p:spPr>
          <a:xfrm xmlns:a="http://schemas.openxmlformats.org/drawingml/2006/main">
            <a:off x="552450" y="1857375"/>
            <a:ext cx="4191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203C33"/>
                </a:solidFill>
                <a:latin typeface="Nimbus Sans"/>
                <a:ea typeface="Nimbus Sans"/>
                <a:cs typeface="Nimbus Sans"/>
              </a:defRPr>
            </a:defPPr>
          </a:lstStyle>
          <a:p xmlns:a="http://schemas.openxmlformats.org/drawingml/2006/main">
            <a:pPr marL="228600" indent="-114300">
              <a:spcAft>
                <a:spcPts val="1800"/>
              </a:spcAft>
              <a:buChar char="•"/>
              <a:defRPr sz="2175" b="0">
                <a:solidFill>
                  <a:srgbClr val="203C33"/>
                </a:solidFill>
                <a:latin typeface="Nimbus Sans"/>
                <a:ea typeface="Nimbus Sans"/>
                <a:cs typeface="Nimbus Sans"/>
              </a:defRPr>
            </a:pPr>
            <a:r>
              <a:rPr sz="2175" b="0">
                <a:solidFill>
                  <a:srgbClr val="203C33"/>
                </a:solidFill>
                <a:latin typeface="Nimbus Sans"/>
                <a:ea typeface="Nimbus Sans"/>
                <a:cs typeface="Nimbus Sans"/>
              </a:rPr>
              <a:t>The model projects Adams at 13.19 PPR.</a:t>
            </a:r>
          </a:p>
          <a:p xmlns:a="http://schemas.openxmlformats.org/drawingml/2006/main">
            <a:pPr marL="228600" indent="-114300">
              <a:spcAft>
                <a:spcPts val="1800"/>
              </a:spcAft>
              <a:buChar char="•"/>
              <a:defRPr sz="2175" b="0">
                <a:solidFill>
                  <a:srgbClr val="203C33"/>
                </a:solidFill>
                <a:latin typeface="Nimbus Sans"/>
                <a:ea typeface="Nimbus Sans"/>
                <a:cs typeface="Nimbus Sans"/>
              </a:defRPr>
            </a:pPr>
            <a:r>
              <a:rPr sz="2175" b="0">
                <a:solidFill>
                  <a:srgbClr val="203C33"/>
                </a:solidFill>
                <a:latin typeface="Nimbus Sans"/>
                <a:ea typeface="Nimbus Sans"/>
                <a:cs typeface="Nimbus Sans"/>
              </a:rPr>
              <a:t>It projects Golden at 3.87 PPR.</a:t>
            </a:r>
          </a:p>
          <a:p xmlns:a="http://schemas.openxmlformats.org/drawingml/2006/main">
            <a:pPr marL="228600" indent="-114300">
              <a:spcAft>
                <a:spcPts val="1800"/>
              </a:spcAft>
              <a:buChar char="•"/>
              <a:defRPr sz="2175" b="0">
                <a:solidFill>
                  <a:srgbClr val="203C33"/>
                </a:solidFill>
                <a:latin typeface="Nimbus Sans"/>
                <a:ea typeface="Nimbus Sans"/>
                <a:cs typeface="Nimbus Sans"/>
              </a:defRPr>
            </a:pPr>
            <a:r>
              <a:rPr sz="2175" b="0">
                <a:solidFill>
                  <a:srgbClr val="203C33"/>
                </a:solidFill>
                <a:latin typeface="Nimbus Sans"/>
                <a:ea typeface="Nimbus Sans"/>
                <a:cs typeface="Nimbus Sans"/>
              </a:rPr>
              <a:t>The app summarizes the forecast gap.</a:t>
            </a:r>
          </a:p>
        </p:txBody>
      </p:sp>
      <p:pic>
        <p:nvPicPr>
          <p:cNvPr id="4" name="">
            <a:extLst xmlns:a="http://schemas.openxmlformats.org/drawingml/2006/main">
              <a:ext uri="{FF2B5EF4-FFF2-40B4-BE49-F238E27FC236}">
                <a16:creationId xmlns:a16="http://schemas.microsoft.com/office/drawing/2014/main" id="{AD9120EB-8185-476E-B322-7047B29A163F}"/>
              </a:ext>
            </a:extLst>
          </p:cNvPr>
          <p:cNvPicPr>
            <a:picLocks xmlns:a="http://schemas.openxmlformats.org/drawingml/2006/main" noChangeAspect="1"/>
          </p:cNvPicPr>
          <p:nvPr/>
        </p:nvPicPr>
        <p:blipFill>
          <a:blip xmlns:r="http://schemas.openxmlformats.org/officeDocument/2006/relationships" xmlns:a="http://schemas.openxmlformats.org/drawingml/2006/main" r:embed="R22086f3a448b47bf"/>
          <a:stretch xmlns:a="http://schemas.openxmlformats.org/drawingml/2006/main"/>
        </p:blipFill>
        <p:spPr>
          <a:xfrm xmlns:a="http://schemas.openxmlformats.org/drawingml/2006/main">
            <a:off x="4905756" y="1809750"/>
            <a:ext cx="6761988" cy="46958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5E8FFD8-94F7-4A7B-985E-9EAFC70A2032}"/>
              </a:ext>
            </a:extLst>
          </p:cNvPr>
          <p:cNvSpPr>
            <a:spLocks xmlns:a="http://schemas.openxmlformats.org/drawingml/2006/main" noGrp="1"/>
          </p:cNvSpPr>
          <p:nvPr/>
        </p:nvSpPr>
        <p:spPr>
          <a:xfrm xmlns:a="http://schemas.openxmlformats.org/drawingml/2006/main">
            <a:off x="552450" y="647700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203C33"/>
                </a:solidFill>
                <a:latin typeface="Nimbus Sans"/>
                <a:ea typeface="Nimbus Sans"/>
                <a:cs typeface="Nimbus Sans"/>
              </a:defRPr>
            </a:defPPr>
          </a:lstStyle>
          <a:p xmlns:a="http://schemas.openxmlformats.org/drawingml/2006/main">
            <a:pPr>
              <a:defRPr sz="1125" b="0">
                <a:solidFill>
                  <a:srgbClr val="203C33"/>
                </a:solidFill>
                <a:latin typeface="Nimbus Sans"/>
                <a:ea typeface="Nimbus Sans"/>
                <a:cs typeface="Nimbus Sans"/>
              </a:defRPr>
            </a:pPr>
            <a:r>
              <a:rPr sz="1125" b="0">
                <a:solidFill>
                  <a:srgbClr val="203C33"/>
                </a:solidFill>
                <a:latin typeface="Nimbus Sans"/>
                <a:ea typeface="Nimbus Sans"/>
                <a:cs typeface="Nimbus Sans"/>
              </a:rPr>
              <a:t>Sideline • IST 440W</a:t>
            </a:r>
          </a:p>
        </p:txBody>
      </p:sp>
      <p:sp>
        <p:nvSpPr>
          <p:cNvPr id="6" name="">
            <a:extLst xmlns:a="http://schemas.openxmlformats.org/drawingml/2006/main">
              <a:ext uri="{FF2B5EF4-FFF2-40B4-BE49-F238E27FC236}">
                <a16:creationId xmlns:a16="http://schemas.microsoft.com/office/drawing/2014/main" id="{24356E6A-026E-469E-8B04-06A2790FA46E}"/>
              </a:ext>
            </a:extLst>
          </p:cNvPr>
          <p:cNvSpPr>
            <a:spLocks xmlns:a="http://schemas.openxmlformats.org/drawingml/2006/main" noGrp="1"/>
          </p:cNvSpPr>
          <p:nvPr/>
        </p:nvSpPr>
        <p:spPr>
          <a:xfrm xmlns:a="http://schemas.openxmlformats.org/drawingml/2006/main">
            <a:off x="1123950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203C33"/>
                </a:solidFill>
                <a:latin typeface="Nimbus Sans"/>
                <a:ea typeface="Nimbus Sans"/>
                <a:cs typeface="Nimbus Sans"/>
              </a:defRPr>
            </a:defPPr>
          </a:lstStyle>
          <a:p xmlns:a="http://schemas.openxmlformats.org/drawingml/2006/main">
            <a:pPr>
              <a:defRPr sz="1125" b="0">
                <a:solidFill>
                  <a:srgbClr val="203C33"/>
                </a:solidFill>
                <a:latin typeface="Nimbus Sans"/>
                <a:ea typeface="Nimbus Sans"/>
                <a:cs typeface="Nimbus Sans"/>
              </a:defRPr>
            </a:pPr>
            <a:r>
              <a:rPr sz="1125" b="0">
                <a:solidFill>
                  <a:srgbClr val="203C33"/>
                </a:solidFill>
                <a:latin typeface="Nimbus Sans"/>
                <a:ea typeface="Nimbus Sans"/>
                <a:cs typeface="Nimbus Sans"/>
              </a:rPr>
              <a:t>05</a:t>
            </a:r>
          </a:p>
        </p:txBody>
      </p:sp>
    </p:spTree>
    <p:extLst>
      <p:ext uri="{BB962C8B-B14F-4D97-AF65-F5344CB8AC3E}">
        <p14:creationId xmlns:p14="http://schemas.microsoft.com/office/powerpoint/2010/main" val="225229390"/>
      </p:ext>
    </p:extLst>
  </p:cSld>
</p:sld>
</file>

<file path=ppt/slides/slide6.xml><?xml version="1.0" encoding="utf-8"?>
<p:sld xmlns:p="http://schemas.openxmlformats.org/presentationml/2006/main">
  <p:cSld>
    <p:bg>
      <p:bgPr>
        <a:solidFill xmlns:a="http://schemas.openxmlformats.org/drawingml/2006/main">
          <a:srgbClr val="F6F4E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93D6C19-0922-4D00-AEE4-52785886CC87}"/>
              </a:ext>
            </a:extLst>
          </p:cNvPr>
          <p:cNvSpPr>
            <a:spLocks xmlns:a="http://schemas.openxmlformats.org/drawingml/2006/main" noGrp="1"/>
          </p:cNvSpPr>
          <p:nvPr/>
        </p:nvSpPr>
        <p:spPr>
          <a:xfrm xmlns:a="http://schemas.openxmlformats.org/drawingml/2006/main">
            <a:off x="523875" y="428625"/>
            <a:ext cx="1114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74F3E"/>
                </a:solidFill>
                <a:latin typeface="Nimbus Sans"/>
                <a:ea typeface="Nimbus Sans"/>
                <a:cs typeface="Nimbus Sans"/>
              </a:defRPr>
            </a:defPPr>
          </a:lstStyle>
          <a:p xmlns:a="http://schemas.openxmlformats.org/drawingml/2006/main">
            <a:pPr>
              <a:defRPr sz="3300" b="1">
                <a:solidFill>
                  <a:srgbClr val="174F3E"/>
                </a:solidFill>
                <a:latin typeface="Nimbus Sans"/>
                <a:ea typeface="Nimbus Sans"/>
                <a:cs typeface="Nimbus Sans"/>
              </a:defRPr>
            </a:pPr>
            <a:r>
              <a:rPr sz="3300" b="1">
                <a:solidFill>
                  <a:srgbClr val="174F3E"/>
                </a:solidFill>
                <a:latin typeface="Nimbus Sans"/>
                <a:ea typeface="Nimbus Sans"/>
                <a:cs typeface="Nimbus Sans"/>
              </a:rPr>
              <a:t>Opportunity and matchup evidence</a:t>
            </a:r>
          </a:p>
        </p:txBody>
      </p:sp>
      <p:sp>
        <p:nvSpPr>
          <p:cNvPr id="2" name="">
            <a:extLst xmlns:a="http://schemas.openxmlformats.org/drawingml/2006/main">
              <a:ext uri="{FF2B5EF4-FFF2-40B4-BE49-F238E27FC236}">
                <a16:creationId xmlns:a16="http://schemas.microsoft.com/office/drawing/2014/main" id="{A088E9F0-7A41-482D-AE93-52CB34A4AE78}"/>
              </a:ext>
            </a:extLst>
          </p:cNvPr>
          <p:cNvSpPr>
            <a:spLocks xmlns:a="http://schemas.openxmlformats.org/drawingml/2006/main" noGrp="1"/>
          </p:cNvSpPr>
          <p:nvPr/>
        </p:nvSpPr>
        <p:spPr>
          <a:xfrm xmlns:a="http://schemas.openxmlformats.org/drawingml/2006/main">
            <a:off x="552450" y="119062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C33"/>
                </a:solidFill>
                <a:latin typeface="Nimbus Sans"/>
                <a:ea typeface="Nimbus Sans"/>
                <a:cs typeface="Nimbus Sans"/>
              </a:defRPr>
            </a:defPPr>
          </a:lstStyle>
          <a:p xmlns:a="http://schemas.openxmlformats.org/drawingml/2006/main">
            <a:pPr>
              <a:defRPr sz="1875" b="0">
                <a:solidFill>
                  <a:srgbClr val="203C33"/>
                </a:solidFill>
                <a:latin typeface="Nimbus Sans"/>
                <a:ea typeface="Nimbus Sans"/>
                <a:cs typeface="Nimbus Sans"/>
              </a:defRPr>
            </a:pPr>
            <a:r>
              <a:rPr sz="1875" b="0">
                <a:solidFill>
                  <a:srgbClr val="203C33"/>
                </a:solidFill>
                <a:latin typeface="Nimbus Sans"/>
                <a:ea typeface="Nimbus Sans"/>
                <a:cs typeface="Nimbus Sans"/>
              </a:rPr>
              <a:t>The comparison table</a:t>
            </a:r>
          </a:p>
        </p:txBody>
      </p:sp>
      <p:sp>
        <p:nvSpPr>
          <p:cNvPr id="3" name="">
            <a:extLst xmlns:a="http://schemas.openxmlformats.org/drawingml/2006/main">
              <a:ext uri="{FF2B5EF4-FFF2-40B4-BE49-F238E27FC236}">
                <a16:creationId xmlns:a16="http://schemas.microsoft.com/office/drawing/2014/main" id="{59D8C41B-BD96-4509-A376-36C5DBD968FC}"/>
              </a:ext>
            </a:extLst>
          </p:cNvPr>
          <p:cNvSpPr>
            <a:spLocks xmlns:a="http://schemas.openxmlformats.org/drawingml/2006/main" noGrp="1"/>
          </p:cNvSpPr>
          <p:nvPr/>
        </p:nvSpPr>
        <p:spPr>
          <a:xfrm xmlns:a="http://schemas.openxmlformats.org/drawingml/2006/main">
            <a:off x="552450" y="1857375"/>
            <a:ext cx="4191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203C33"/>
                </a:solidFill>
                <a:latin typeface="Nimbus Sans"/>
                <a:ea typeface="Nimbus Sans"/>
                <a:cs typeface="Nimbus Sans"/>
              </a:defRPr>
            </a:defPPr>
          </a:lstStyle>
          <a:p xmlns:a="http://schemas.openxmlformats.org/drawingml/2006/main">
            <a:pPr marL="228600" indent="-114300">
              <a:spcAft>
                <a:spcPts val="1800"/>
              </a:spcAft>
              <a:buChar char="•"/>
              <a:defRPr sz="2175" b="0">
                <a:solidFill>
                  <a:srgbClr val="203C33"/>
                </a:solidFill>
                <a:latin typeface="Nimbus Sans"/>
                <a:ea typeface="Nimbus Sans"/>
                <a:cs typeface="Nimbus Sans"/>
              </a:defRPr>
            </a:pPr>
            <a:r>
              <a:rPr sz="2175" b="0">
                <a:solidFill>
                  <a:srgbClr val="203C33"/>
                </a:solidFill>
                <a:latin typeface="Nimbus Sans"/>
                <a:ea typeface="Nimbus Sans"/>
                <a:cs typeface="Nimbus Sans"/>
              </a:rPr>
              <a:t>Targets, target share and snap share show usage.</a:t>
            </a:r>
          </a:p>
          <a:p xmlns:a="http://schemas.openxmlformats.org/drawingml/2006/main">
            <a:pPr marL="228600" indent="-114300">
              <a:spcAft>
                <a:spcPts val="1800"/>
              </a:spcAft>
              <a:buChar char="•"/>
              <a:defRPr sz="2175" b="0">
                <a:solidFill>
                  <a:srgbClr val="203C33"/>
                </a:solidFill>
                <a:latin typeface="Nimbus Sans"/>
                <a:ea typeface="Nimbus Sans"/>
                <a:cs typeface="Nimbus Sans"/>
              </a:defRPr>
            </a:pPr>
            <a:r>
              <a:rPr sz="2175" b="0">
                <a:solidFill>
                  <a:srgbClr val="203C33"/>
                </a:solidFill>
                <a:latin typeface="Nimbus Sans"/>
                <a:ea typeface="Nimbus Sans"/>
                <a:cs typeface="Nimbus Sans"/>
              </a:rPr>
              <a:t>Drop rate and red-zone share add context.</a:t>
            </a:r>
          </a:p>
          <a:p xmlns:a="http://schemas.openxmlformats.org/drawingml/2006/main">
            <a:pPr marL="228600" indent="-114300">
              <a:spcAft>
                <a:spcPts val="1800"/>
              </a:spcAft>
              <a:buChar char="•"/>
              <a:defRPr sz="2175" b="0">
                <a:solidFill>
                  <a:srgbClr val="203C33"/>
                </a:solidFill>
                <a:latin typeface="Nimbus Sans"/>
                <a:ea typeface="Nimbus Sans"/>
                <a:cs typeface="Nimbus Sans"/>
              </a:defRPr>
            </a:pPr>
            <a:r>
              <a:rPr sz="2175" b="0">
                <a:solidFill>
                  <a:srgbClr val="203C33"/>
                </a:solidFill>
                <a:latin typeface="Nimbus Sans"/>
                <a:ea typeface="Nimbus Sans"/>
                <a:cs typeface="Nimbus Sans"/>
              </a:rPr>
              <a:t>Previous opponent results describe the matchup.</a:t>
            </a:r>
          </a:p>
        </p:txBody>
      </p:sp>
      <p:pic>
        <p:nvPicPr>
          <p:cNvPr id="4" name="">
            <a:extLst xmlns:a="http://schemas.openxmlformats.org/drawingml/2006/main">
              <a:ext uri="{FF2B5EF4-FFF2-40B4-BE49-F238E27FC236}">
                <a16:creationId xmlns:a16="http://schemas.microsoft.com/office/drawing/2014/main" id="{8E4406D4-FCF6-4FDD-A523-8A600C92E813}"/>
              </a:ext>
            </a:extLst>
          </p:cNvPr>
          <p:cNvPicPr>
            <a:picLocks xmlns:a="http://schemas.openxmlformats.org/drawingml/2006/main" noChangeAspect="1"/>
          </p:cNvPicPr>
          <p:nvPr/>
        </p:nvPicPr>
        <p:blipFill>
          <a:blip xmlns:r="http://schemas.openxmlformats.org/officeDocument/2006/relationships" xmlns:a="http://schemas.openxmlformats.org/drawingml/2006/main" r:embed="R501874c05a264fd9"/>
          <a:stretch xmlns:a="http://schemas.openxmlformats.org/drawingml/2006/main"/>
        </p:blipFill>
        <p:spPr>
          <a:xfrm xmlns:a="http://schemas.openxmlformats.org/drawingml/2006/main">
            <a:off x="4905756" y="1809750"/>
            <a:ext cx="6761988" cy="46958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639A781-6357-41C3-847E-2A0455B46ACF}"/>
              </a:ext>
            </a:extLst>
          </p:cNvPr>
          <p:cNvSpPr>
            <a:spLocks xmlns:a="http://schemas.openxmlformats.org/drawingml/2006/main" noGrp="1"/>
          </p:cNvSpPr>
          <p:nvPr/>
        </p:nvSpPr>
        <p:spPr>
          <a:xfrm xmlns:a="http://schemas.openxmlformats.org/drawingml/2006/main">
            <a:off x="552450" y="647700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203C33"/>
                </a:solidFill>
                <a:latin typeface="Nimbus Sans"/>
                <a:ea typeface="Nimbus Sans"/>
                <a:cs typeface="Nimbus Sans"/>
              </a:defRPr>
            </a:defPPr>
          </a:lstStyle>
          <a:p xmlns:a="http://schemas.openxmlformats.org/drawingml/2006/main">
            <a:pPr>
              <a:defRPr sz="1125" b="0">
                <a:solidFill>
                  <a:srgbClr val="203C33"/>
                </a:solidFill>
                <a:latin typeface="Nimbus Sans"/>
                <a:ea typeface="Nimbus Sans"/>
                <a:cs typeface="Nimbus Sans"/>
              </a:defRPr>
            </a:pPr>
            <a:r>
              <a:rPr sz="1125" b="0">
                <a:solidFill>
                  <a:srgbClr val="203C33"/>
                </a:solidFill>
                <a:latin typeface="Nimbus Sans"/>
                <a:ea typeface="Nimbus Sans"/>
                <a:cs typeface="Nimbus Sans"/>
              </a:rPr>
              <a:t>Sideline • IST 440W</a:t>
            </a:r>
          </a:p>
        </p:txBody>
      </p:sp>
      <p:sp>
        <p:nvSpPr>
          <p:cNvPr id="6" name="">
            <a:extLst xmlns:a="http://schemas.openxmlformats.org/drawingml/2006/main">
              <a:ext uri="{FF2B5EF4-FFF2-40B4-BE49-F238E27FC236}">
                <a16:creationId xmlns:a16="http://schemas.microsoft.com/office/drawing/2014/main" id="{F3CC73AD-CDF2-4193-BC14-108154E204F4}"/>
              </a:ext>
            </a:extLst>
          </p:cNvPr>
          <p:cNvSpPr>
            <a:spLocks xmlns:a="http://schemas.openxmlformats.org/drawingml/2006/main" noGrp="1"/>
          </p:cNvSpPr>
          <p:nvPr/>
        </p:nvSpPr>
        <p:spPr>
          <a:xfrm xmlns:a="http://schemas.openxmlformats.org/drawingml/2006/main">
            <a:off x="1123950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203C33"/>
                </a:solidFill>
                <a:latin typeface="Nimbus Sans"/>
                <a:ea typeface="Nimbus Sans"/>
                <a:cs typeface="Nimbus Sans"/>
              </a:defRPr>
            </a:defPPr>
          </a:lstStyle>
          <a:p xmlns:a="http://schemas.openxmlformats.org/drawingml/2006/main">
            <a:pPr>
              <a:defRPr sz="1125" b="0">
                <a:solidFill>
                  <a:srgbClr val="203C33"/>
                </a:solidFill>
                <a:latin typeface="Nimbus Sans"/>
                <a:ea typeface="Nimbus Sans"/>
                <a:cs typeface="Nimbus Sans"/>
              </a:defRPr>
            </a:pPr>
            <a:r>
              <a:rPr sz="1125" b="0">
                <a:solidFill>
                  <a:srgbClr val="203C33"/>
                </a:solidFill>
                <a:latin typeface="Nimbus Sans"/>
                <a:ea typeface="Nimbus Sans"/>
                <a:cs typeface="Nimbus Sans"/>
              </a:rPr>
              <a:t>06</a:t>
            </a:r>
          </a:p>
        </p:txBody>
      </p:sp>
    </p:spTree>
    <p:extLst>
      <p:ext uri="{BB962C8B-B14F-4D97-AF65-F5344CB8AC3E}">
        <p14:creationId xmlns:p14="http://schemas.microsoft.com/office/powerpoint/2010/main" val="1387179900"/>
      </p:ext>
    </p:extLst>
  </p:cSld>
</p:sld>
</file>

<file path=ppt/slides/slide7.xml><?xml version="1.0" encoding="utf-8"?>
<p:sld xmlns:p="http://schemas.openxmlformats.org/presentationml/2006/main">
  <p:cSld>
    <p:bg>
      <p:bgPr>
        <a:solidFill xmlns:a="http://schemas.openxmlformats.org/drawingml/2006/main">
          <a:srgbClr val="F6F4E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B1B1809-28CB-4B99-A765-123A2D86B23E}"/>
              </a:ext>
            </a:extLst>
          </p:cNvPr>
          <p:cNvSpPr>
            <a:spLocks xmlns:a="http://schemas.openxmlformats.org/drawingml/2006/main" noGrp="1"/>
          </p:cNvSpPr>
          <p:nvPr/>
        </p:nvSpPr>
        <p:spPr>
          <a:xfrm xmlns:a="http://schemas.openxmlformats.org/drawingml/2006/main">
            <a:off x="523875" y="428625"/>
            <a:ext cx="1114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74F3E"/>
                </a:solidFill>
                <a:latin typeface="Nimbus Sans"/>
                <a:ea typeface="Nimbus Sans"/>
                <a:cs typeface="Nimbus Sans"/>
              </a:defRPr>
            </a:defPPr>
          </a:lstStyle>
          <a:p xmlns:a="http://schemas.openxmlformats.org/drawingml/2006/main">
            <a:pPr>
              <a:defRPr sz="3300" b="1">
                <a:solidFill>
                  <a:srgbClr val="174F3E"/>
                </a:solidFill>
                <a:latin typeface="Nimbus Sans"/>
                <a:ea typeface="Nimbus Sans"/>
                <a:cs typeface="Nimbus Sans"/>
              </a:defRPr>
            </a:pPr>
            <a:r>
              <a:rPr sz="3300" b="1">
                <a:solidFill>
                  <a:srgbClr val="174F3E"/>
                </a:solidFill>
                <a:latin typeface="Nimbus Sans"/>
                <a:ea typeface="Nimbus Sans"/>
                <a:cs typeface="Nimbus Sans"/>
              </a:rPr>
              <a:t>Methodology and missing inputs</a:t>
            </a:r>
          </a:p>
        </p:txBody>
      </p:sp>
      <p:sp>
        <p:nvSpPr>
          <p:cNvPr id="2" name="">
            <a:extLst xmlns:a="http://schemas.openxmlformats.org/drawingml/2006/main">
              <a:ext uri="{FF2B5EF4-FFF2-40B4-BE49-F238E27FC236}">
                <a16:creationId xmlns:a16="http://schemas.microsoft.com/office/drawing/2014/main" id="{5B477FDE-8758-4A8D-92CD-8A7A09F3C470}"/>
              </a:ext>
            </a:extLst>
          </p:cNvPr>
          <p:cNvSpPr>
            <a:spLocks xmlns:a="http://schemas.openxmlformats.org/drawingml/2006/main" noGrp="1"/>
          </p:cNvSpPr>
          <p:nvPr/>
        </p:nvSpPr>
        <p:spPr>
          <a:xfrm xmlns:a="http://schemas.openxmlformats.org/drawingml/2006/main">
            <a:off x="552450" y="119062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C33"/>
                </a:solidFill>
                <a:latin typeface="Nimbus Sans"/>
                <a:ea typeface="Nimbus Sans"/>
                <a:cs typeface="Nimbus Sans"/>
              </a:defRPr>
            </a:defPPr>
          </a:lstStyle>
          <a:p xmlns:a="http://schemas.openxmlformats.org/drawingml/2006/main">
            <a:pPr>
              <a:defRPr sz="1875" b="0">
                <a:solidFill>
                  <a:srgbClr val="203C33"/>
                </a:solidFill>
                <a:latin typeface="Nimbus Sans"/>
                <a:ea typeface="Nimbus Sans"/>
                <a:cs typeface="Nimbus Sans"/>
              </a:defRPr>
            </a:pPr>
            <a:r>
              <a:rPr sz="1875" b="0">
                <a:solidFill>
                  <a:srgbClr val="203C33"/>
                </a:solidFill>
                <a:latin typeface="Nimbus Sans"/>
                <a:ea typeface="Nimbus Sans"/>
                <a:cs typeface="Nimbus Sans"/>
              </a:rPr>
              <a:t>Clear limits in the interface</a:t>
            </a:r>
          </a:p>
        </p:txBody>
      </p:sp>
      <p:sp>
        <p:nvSpPr>
          <p:cNvPr id="3" name="">
            <a:extLst xmlns:a="http://schemas.openxmlformats.org/drawingml/2006/main">
              <a:ext uri="{FF2B5EF4-FFF2-40B4-BE49-F238E27FC236}">
                <a16:creationId xmlns:a16="http://schemas.microsoft.com/office/drawing/2014/main" id="{4195C5A8-3F2B-4376-96E6-2F31F1ADA34A}"/>
              </a:ext>
            </a:extLst>
          </p:cNvPr>
          <p:cNvSpPr>
            <a:spLocks xmlns:a="http://schemas.openxmlformats.org/drawingml/2006/main" noGrp="1"/>
          </p:cNvSpPr>
          <p:nvPr/>
        </p:nvSpPr>
        <p:spPr>
          <a:xfrm xmlns:a="http://schemas.openxmlformats.org/drawingml/2006/main">
            <a:off x="552450" y="1857375"/>
            <a:ext cx="4191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203C33"/>
                </a:solidFill>
                <a:latin typeface="Nimbus Sans"/>
                <a:ea typeface="Nimbus Sans"/>
                <a:cs typeface="Nimbus Sans"/>
              </a:defRPr>
            </a:defPPr>
          </a:lstStyle>
          <a:p xmlns:a="http://schemas.openxmlformats.org/drawingml/2006/main">
            <a:pPr marL="228600" indent="-114300">
              <a:spcAft>
                <a:spcPts val="1800"/>
              </a:spcAft>
              <a:buChar char="•"/>
              <a:defRPr sz="2175" b="0">
                <a:solidFill>
                  <a:srgbClr val="203C33"/>
                </a:solidFill>
                <a:latin typeface="Nimbus Sans"/>
                <a:ea typeface="Nimbus Sans"/>
                <a:cs typeface="Nimbus Sans"/>
              </a:defRPr>
            </a:pPr>
            <a:r>
              <a:rPr sz="2175" b="0">
                <a:solidFill>
                  <a:srgbClr val="203C33"/>
                </a:solidFill>
                <a:latin typeface="Nimbus Sans"/>
                <a:ea typeface="Nimbus Sans"/>
                <a:cs typeface="Nimbus Sans"/>
              </a:rPr>
              <a:t>The app explains its data cutoff and evaluation.</a:t>
            </a:r>
          </a:p>
          <a:p xmlns:a="http://schemas.openxmlformats.org/drawingml/2006/main">
            <a:pPr marL="228600" indent="-114300">
              <a:spcAft>
                <a:spcPts val="1800"/>
              </a:spcAft>
              <a:buChar char="•"/>
              <a:defRPr sz="2175" b="0">
                <a:solidFill>
                  <a:srgbClr val="203C33"/>
                </a:solidFill>
                <a:latin typeface="Nimbus Sans"/>
                <a:ea typeface="Nimbus Sans"/>
                <a:cs typeface="Nimbus Sans"/>
              </a:defRPr>
            </a:pPr>
            <a:r>
              <a:rPr sz="2175" b="0">
                <a:solidFill>
                  <a:srgbClr val="203C33"/>
                </a:solidFill>
                <a:latin typeface="Nimbus Sans"/>
                <a:ea typeface="Nimbus Sans"/>
                <a:cs typeface="Nimbus Sans"/>
              </a:rPr>
              <a:t>Unavailable statistics remain visibly labeled.</a:t>
            </a:r>
          </a:p>
          <a:p xmlns:a="http://schemas.openxmlformats.org/drawingml/2006/main">
            <a:pPr marL="228600" indent="-114300">
              <a:spcAft>
                <a:spcPts val="1800"/>
              </a:spcAft>
              <a:buChar char="•"/>
              <a:defRPr sz="2175" b="0">
                <a:solidFill>
                  <a:srgbClr val="203C33"/>
                </a:solidFill>
                <a:latin typeface="Nimbus Sans"/>
                <a:ea typeface="Nimbus Sans"/>
                <a:cs typeface="Nimbus Sans"/>
              </a:defRPr>
            </a:pPr>
            <a:r>
              <a:rPr sz="2175" b="0">
                <a:solidFill>
                  <a:srgbClr val="203C33"/>
                </a:solidFill>
                <a:latin typeface="Nimbus Sans"/>
                <a:ea typeface="Nimbus Sans"/>
                <a:cs typeface="Nimbus Sans"/>
              </a:rPr>
              <a:t>Routes, injury feeds and archived weather forecasts remain future work.</a:t>
            </a:r>
          </a:p>
        </p:txBody>
      </p:sp>
      <p:pic>
        <p:nvPicPr>
          <p:cNvPr id="4" name="">
            <a:extLst xmlns:a="http://schemas.openxmlformats.org/drawingml/2006/main">
              <a:ext uri="{FF2B5EF4-FFF2-40B4-BE49-F238E27FC236}">
                <a16:creationId xmlns:a16="http://schemas.microsoft.com/office/drawing/2014/main" id="{4CD50604-BA6F-47CB-B416-5C6EE939C0E7}"/>
              </a:ext>
            </a:extLst>
          </p:cNvPr>
          <p:cNvPicPr>
            <a:picLocks xmlns:a="http://schemas.openxmlformats.org/drawingml/2006/main" noChangeAspect="1"/>
          </p:cNvPicPr>
          <p:nvPr/>
        </p:nvPicPr>
        <p:blipFill>
          <a:blip xmlns:r="http://schemas.openxmlformats.org/officeDocument/2006/relationships" xmlns:a="http://schemas.openxmlformats.org/drawingml/2006/main" r:embed="R32f0108ac8a24ca8"/>
          <a:stretch xmlns:a="http://schemas.openxmlformats.org/drawingml/2006/main"/>
        </p:blipFill>
        <p:spPr>
          <a:xfrm xmlns:a="http://schemas.openxmlformats.org/drawingml/2006/main">
            <a:off x="4905756" y="1809750"/>
            <a:ext cx="6761988" cy="46958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047D9A6-6AF5-4A2F-B80E-170DA8F6E0B0}"/>
              </a:ext>
            </a:extLst>
          </p:cNvPr>
          <p:cNvSpPr>
            <a:spLocks xmlns:a="http://schemas.openxmlformats.org/drawingml/2006/main" noGrp="1"/>
          </p:cNvSpPr>
          <p:nvPr/>
        </p:nvSpPr>
        <p:spPr>
          <a:xfrm xmlns:a="http://schemas.openxmlformats.org/drawingml/2006/main">
            <a:off x="552450" y="647700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203C33"/>
                </a:solidFill>
                <a:latin typeface="Nimbus Sans"/>
                <a:ea typeface="Nimbus Sans"/>
                <a:cs typeface="Nimbus Sans"/>
              </a:defRPr>
            </a:defPPr>
          </a:lstStyle>
          <a:p xmlns:a="http://schemas.openxmlformats.org/drawingml/2006/main">
            <a:pPr>
              <a:defRPr sz="1125" b="0">
                <a:solidFill>
                  <a:srgbClr val="203C33"/>
                </a:solidFill>
                <a:latin typeface="Nimbus Sans"/>
                <a:ea typeface="Nimbus Sans"/>
                <a:cs typeface="Nimbus Sans"/>
              </a:defRPr>
            </a:pPr>
            <a:r>
              <a:rPr sz="1125" b="0">
                <a:solidFill>
                  <a:srgbClr val="203C33"/>
                </a:solidFill>
                <a:latin typeface="Nimbus Sans"/>
                <a:ea typeface="Nimbus Sans"/>
                <a:cs typeface="Nimbus Sans"/>
              </a:rPr>
              <a:t>Sideline • IST 440W</a:t>
            </a:r>
          </a:p>
        </p:txBody>
      </p:sp>
      <p:sp>
        <p:nvSpPr>
          <p:cNvPr id="6" name="">
            <a:extLst xmlns:a="http://schemas.openxmlformats.org/drawingml/2006/main">
              <a:ext uri="{FF2B5EF4-FFF2-40B4-BE49-F238E27FC236}">
                <a16:creationId xmlns:a16="http://schemas.microsoft.com/office/drawing/2014/main" id="{189BAB44-686C-420A-9801-9EE1CBD3092C}"/>
              </a:ext>
            </a:extLst>
          </p:cNvPr>
          <p:cNvSpPr>
            <a:spLocks xmlns:a="http://schemas.openxmlformats.org/drawingml/2006/main" noGrp="1"/>
          </p:cNvSpPr>
          <p:nvPr/>
        </p:nvSpPr>
        <p:spPr>
          <a:xfrm xmlns:a="http://schemas.openxmlformats.org/drawingml/2006/main">
            <a:off x="1123950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203C33"/>
                </a:solidFill>
                <a:latin typeface="Nimbus Sans"/>
                <a:ea typeface="Nimbus Sans"/>
                <a:cs typeface="Nimbus Sans"/>
              </a:defRPr>
            </a:defPPr>
          </a:lstStyle>
          <a:p xmlns:a="http://schemas.openxmlformats.org/drawingml/2006/main">
            <a:pPr>
              <a:defRPr sz="1125" b="0">
                <a:solidFill>
                  <a:srgbClr val="203C33"/>
                </a:solidFill>
                <a:latin typeface="Nimbus Sans"/>
                <a:ea typeface="Nimbus Sans"/>
                <a:cs typeface="Nimbus Sans"/>
              </a:defRPr>
            </a:pPr>
            <a:r>
              <a:rPr sz="1125" b="0">
                <a:solidFill>
                  <a:srgbClr val="203C33"/>
                </a:solidFill>
                <a:latin typeface="Nimbus Sans"/>
                <a:ea typeface="Nimbus Sans"/>
                <a:cs typeface="Nimbus Sans"/>
              </a:rPr>
              <a:t>07</a:t>
            </a:r>
          </a:p>
        </p:txBody>
      </p:sp>
    </p:spTree>
    <p:extLst>
      <p:ext uri="{BB962C8B-B14F-4D97-AF65-F5344CB8AC3E}">
        <p14:creationId xmlns:p14="http://schemas.microsoft.com/office/powerpoint/2010/main" val="1543719942"/>
      </p:ext>
    </p:extLst>
  </p:cSld>
</p:sld>
</file>

<file path=ppt/slides/slide8.xml><?xml version="1.0" encoding="utf-8"?>
<p:sld xmlns:p="http://schemas.openxmlformats.org/presentationml/2006/main">
  <p:cSld>
    <p:bg>
      <p:bgPr>
        <a:solidFill xmlns:a="http://schemas.openxmlformats.org/drawingml/2006/main">
          <a:srgbClr val="F6F4E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46B0820-83C1-4388-81B5-F5BF0294AE38}"/>
              </a:ext>
            </a:extLst>
          </p:cNvPr>
          <p:cNvSpPr>
            <a:spLocks xmlns:a="http://schemas.openxmlformats.org/drawingml/2006/main" noGrp="1"/>
          </p:cNvSpPr>
          <p:nvPr/>
        </p:nvSpPr>
        <p:spPr>
          <a:xfrm xmlns:a="http://schemas.openxmlformats.org/drawingml/2006/main">
            <a:off x="523875" y="428625"/>
            <a:ext cx="1114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74F3E"/>
                </a:solidFill>
                <a:latin typeface="Nimbus Sans"/>
                <a:ea typeface="Nimbus Sans"/>
                <a:cs typeface="Nimbus Sans"/>
              </a:defRPr>
            </a:defPPr>
          </a:lstStyle>
          <a:p xmlns:a="http://schemas.openxmlformats.org/drawingml/2006/main">
            <a:pPr>
              <a:defRPr sz="3300" b="1">
                <a:solidFill>
                  <a:srgbClr val="174F3E"/>
                </a:solidFill>
                <a:latin typeface="Nimbus Sans"/>
                <a:ea typeface="Nimbus Sans"/>
                <a:cs typeface="Nimbus Sans"/>
              </a:defRPr>
            </a:pPr>
            <a:r>
              <a:rPr sz="3300" b="1">
                <a:solidFill>
                  <a:srgbClr val="174F3E"/>
                </a:solidFill>
                <a:latin typeface="Nimbus Sans"/>
                <a:ea typeface="Nimbus Sans"/>
                <a:cs typeface="Nimbus Sans"/>
              </a:rPr>
              <a:t>Input validation</a:t>
            </a:r>
          </a:p>
        </p:txBody>
      </p:sp>
      <p:sp>
        <p:nvSpPr>
          <p:cNvPr id="2" name="">
            <a:extLst xmlns:a="http://schemas.openxmlformats.org/drawingml/2006/main">
              <a:ext uri="{FF2B5EF4-FFF2-40B4-BE49-F238E27FC236}">
                <a16:creationId xmlns:a16="http://schemas.microsoft.com/office/drawing/2014/main" id="{A60B5432-FFA5-4015-9C9E-BAFC0790A14A}"/>
              </a:ext>
            </a:extLst>
          </p:cNvPr>
          <p:cNvSpPr>
            <a:spLocks xmlns:a="http://schemas.openxmlformats.org/drawingml/2006/main" noGrp="1"/>
          </p:cNvSpPr>
          <p:nvPr/>
        </p:nvSpPr>
        <p:spPr>
          <a:xfrm xmlns:a="http://schemas.openxmlformats.org/drawingml/2006/main">
            <a:off x="552450" y="119062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C33"/>
                </a:solidFill>
                <a:latin typeface="Nimbus Sans"/>
                <a:ea typeface="Nimbus Sans"/>
                <a:cs typeface="Nimbus Sans"/>
              </a:defRPr>
            </a:defPPr>
          </a:lstStyle>
          <a:p xmlns:a="http://schemas.openxmlformats.org/drawingml/2006/main">
            <a:pPr>
              <a:defRPr sz="1875" b="0">
                <a:solidFill>
                  <a:srgbClr val="203C33"/>
                </a:solidFill>
                <a:latin typeface="Nimbus Sans"/>
                <a:ea typeface="Nimbus Sans"/>
                <a:cs typeface="Nimbus Sans"/>
              </a:defRPr>
            </a:pPr>
            <a:r>
              <a:rPr sz="1875" b="0">
                <a:solidFill>
                  <a:srgbClr val="203C33"/>
                </a:solidFill>
                <a:latin typeface="Nimbus Sans"/>
                <a:ea typeface="Nimbus Sans"/>
                <a:cs typeface="Nimbus Sans"/>
              </a:rPr>
              <a:t>A comparison must be usable</a:t>
            </a:r>
          </a:p>
        </p:txBody>
      </p:sp>
      <p:sp>
        <p:nvSpPr>
          <p:cNvPr id="3" name="">
            <a:extLst xmlns:a="http://schemas.openxmlformats.org/drawingml/2006/main">
              <a:ext uri="{FF2B5EF4-FFF2-40B4-BE49-F238E27FC236}">
                <a16:creationId xmlns:a16="http://schemas.microsoft.com/office/drawing/2014/main" id="{9CF398A5-8CC8-46E4-B2E2-2119E7DCC047}"/>
              </a:ext>
            </a:extLst>
          </p:cNvPr>
          <p:cNvSpPr>
            <a:spLocks xmlns:a="http://schemas.openxmlformats.org/drawingml/2006/main" noGrp="1"/>
          </p:cNvSpPr>
          <p:nvPr/>
        </p:nvSpPr>
        <p:spPr>
          <a:xfrm xmlns:a="http://schemas.openxmlformats.org/drawingml/2006/main">
            <a:off x="552450" y="1857375"/>
            <a:ext cx="4191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203C33"/>
                </a:solidFill>
                <a:latin typeface="Nimbus Sans"/>
                <a:ea typeface="Nimbus Sans"/>
                <a:cs typeface="Nimbus Sans"/>
              </a:defRPr>
            </a:defPPr>
          </a:lstStyle>
          <a:p xmlns:a="http://schemas.openxmlformats.org/drawingml/2006/main">
            <a:pPr marL="228600" indent="-114300">
              <a:spcAft>
                <a:spcPts val="1800"/>
              </a:spcAft>
              <a:buChar char="•"/>
              <a:defRPr sz="2175" b="0">
                <a:solidFill>
                  <a:srgbClr val="203C33"/>
                </a:solidFill>
                <a:latin typeface="Nimbus Sans"/>
                <a:ea typeface="Nimbus Sans"/>
                <a:cs typeface="Nimbus Sans"/>
              </a:defRPr>
            </a:pPr>
            <a:r>
              <a:rPr sz="2175" b="0">
                <a:solidFill>
                  <a:srgbClr val="203C33"/>
                </a:solidFill>
                <a:latin typeface="Nimbus Sans"/>
                <a:ea typeface="Nimbus Sans"/>
                <a:cs typeface="Nimbus Sans"/>
              </a:rPr>
              <a:t>The user must select two different receivers.</a:t>
            </a:r>
          </a:p>
          <a:p xmlns:a="http://schemas.openxmlformats.org/drawingml/2006/main">
            <a:pPr marL="228600" indent="-114300">
              <a:spcAft>
                <a:spcPts val="1800"/>
              </a:spcAft>
              <a:buChar char="•"/>
              <a:defRPr sz="2175" b="0">
                <a:solidFill>
                  <a:srgbClr val="203C33"/>
                </a:solidFill>
                <a:latin typeface="Nimbus Sans"/>
                <a:ea typeface="Nimbus Sans"/>
                <a:cs typeface="Nimbus Sans"/>
              </a:defRPr>
            </a:pPr>
            <a:r>
              <a:rPr sz="2175" b="0">
                <a:solidFill>
                  <a:srgbClr val="203C33"/>
                </a:solidFill>
                <a:latin typeface="Nimbus Sans"/>
                <a:ea typeface="Nimbus Sans"/>
                <a:cs typeface="Nimbus Sans"/>
              </a:rPr>
              <a:t>Invalid selections produce a clear error.</a:t>
            </a:r>
          </a:p>
          <a:p xmlns:a="http://schemas.openxmlformats.org/drawingml/2006/main">
            <a:pPr marL="228600" indent="-114300">
              <a:spcAft>
                <a:spcPts val="1800"/>
              </a:spcAft>
              <a:buChar char="•"/>
              <a:defRPr sz="2175" b="0">
                <a:solidFill>
                  <a:srgbClr val="203C33"/>
                </a:solidFill>
                <a:latin typeface="Nimbus Sans"/>
                <a:ea typeface="Nimbus Sans"/>
                <a:cs typeface="Nimbus Sans"/>
              </a:defRPr>
            </a:pPr>
            <a:r>
              <a:rPr sz="2175" b="0">
                <a:solidFill>
                  <a:srgbClr val="203C33"/>
                </a:solidFill>
                <a:latin typeface="Nimbus Sans"/>
                <a:ea typeface="Nimbus Sans"/>
                <a:cs typeface="Nimbus Sans"/>
              </a:rPr>
              <a:t>Insufficient history prevents an unsupported forecast.</a:t>
            </a:r>
          </a:p>
        </p:txBody>
      </p:sp>
      <p:pic>
        <p:nvPicPr>
          <p:cNvPr id="4" name="">
            <a:extLst xmlns:a="http://schemas.openxmlformats.org/drawingml/2006/main">
              <a:ext uri="{FF2B5EF4-FFF2-40B4-BE49-F238E27FC236}">
                <a16:creationId xmlns:a16="http://schemas.microsoft.com/office/drawing/2014/main" id="{BCA0F5E1-18A9-4AFD-868C-7994C500A888}"/>
              </a:ext>
            </a:extLst>
          </p:cNvPr>
          <p:cNvPicPr>
            <a:picLocks xmlns:a="http://schemas.openxmlformats.org/drawingml/2006/main" noChangeAspect="1"/>
          </p:cNvPicPr>
          <p:nvPr/>
        </p:nvPicPr>
        <p:blipFill>
          <a:blip xmlns:r="http://schemas.openxmlformats.org/officeDocument/2006/relationships" xmlns:a="http://schemas.openxmlformats.org/drawingml/2006/main" r:embed="Rc9cbe3223c434e53"/>
          <a:stretch xmlns:a="http://schemas.openxmlformats.org/drawingml/2006/main"/>
        </p:blipFill>
        <p:spPr>
          <a:xfrm xmlns:a="http://schemas.openxmlformats.org/drawingml/2006/main">
            <a:off x="4905756" y="1809750"/>
            <a:ext cx="6761988" cy="46958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EDD0685-6536-43FF-9872-E5CB3AC99510}"/>
              </a:ext>
            </a:extLst>
          </p:cNvPr>
          <p:cNvSpPr>
            <a:spLocks xmlns:a="http://schemas.openxmlformats.org/drawingml/2006/main" noGrp="1"/>
          </p:cNvSpPr>
          <p:nvPr/>
        </p:nvSpPr>
        <p:spPr>
          <a:xfrm xmlns:a="http://schemas.openxmlformats.org/drawingml/2006/main">
            <a:off x="552450" y="647700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203C33"/>
                </a:solidFill>
                <a:latin typeface="Nimbus Sans"/>
                <a:ea typeface="Nimbus Sans"/>
                <a:cs typeface="Nimbus Sans"/>
              </a:defRPr>
            </a:defPPr>
          </a:lstStyle>
          <a:p xmlns:a="http://schemas.openxmlformats.org/drawingml/2006/main">
            <a:pPr>
              <a:defRPr sz="1125" b="0">
                <a:solidFill>
                  <a:srgbClr val="203C33"/>
                </a:solidFill>
                <a:latin typeface="Nimbus Sans"/>
                <a:ea typeface="Nimbus Sans"/>
                <a:cs typeface="Nimbus Sans"/>
              </a:defRPr>
            </a:pPr>
            <a:r>
              <a:rPr sz="1125" b="0">
                <a:solidFill>
                  <a:srgbClr val="203C33"/>
                </a:solidFill>
                <a:latin typeface="Nimbus Sans"/>
                <a:ea typeface="Nimbus Sans"/>
                <a:cs typeface="Nimbus Sans"/>
              </a:rPr>
              <a:t>Sideline • IST 440W</a:t>
            </a:r>
          </a:p>
        </p:txBody>
      </p:sp>
      <p:sp>
        <p:nvSpPr>
          <p:cNvPr id="6" name="">
            <a:extLst xmlns:a="http://schemas.openxmlformats.org/drawingml/2006/main">
              <a:ext uri="{FF2B5EF4-FFF2-40B4-BE49-F238E27FC236}">
                <a16:creationId xmlns:a16="http://schemas.microsoft.com/office/drawing/2014/main" id="{4C947B74-AF78-414A-AF1B-72E5CAE88ADB}"/>
              </a:ext>
            </a:extLst>
          </p:cNvPr>
          <p:cNvSpPr>
            <a:spLocks xmlns:a="http://schemas.openxmlformats.org/drawingml/2006/main" noGrp="1"/>
          </p:cNvSpPr>
          <p:nvPr/>
        </p:nvSpPr>
        <p:spPr>
          <a:xfrm xmlns:a="http://schemas.openxmlformats.org/drawingml/2006/main">
            <a:off x="1123950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203C33"/>
                </a:solidFill>
                <a:latin typeface="Nimbus Sans"/>
                <a:ea typeface="Nimbus Sans"/>
                <a:cs typeface="Nimbus Sans"/>
              </a:defRPr>
            </a:defPPr>
          </a:lstStyle>
          <a:p xmlns:a="http://schemas.openxmlformats.org/drawingml/2006/main">
            <a:pPr>
              <a:defRPr sz="1125" b="0">
                <a:solidFill>
                  <a:srgbClr val="203C33"/>
                </a:solidFill>
                <a:latin typeface="Nimbus Sans"/>
                <a:ea typeface="Nimbus Sans"/>
                <a:cs typeface="Nimbus Sans"/>
              </a:defRPr>
            </a:pPr>
            <a:r>
              <a:rPr sz="1125" b="0">
                <a:solidFill>
                  <a:srgbClr val="203C33"/>
                </a:solidFill>
                <a:latin typeface="Nimbus Sans"/>
                <a:ea typeface="Nimbus Sans"/>
                <a:cs typeface="Nimbus Sans"/>
              </a:rPr>
              <a:t>08</a:t>
            </a:r>
          </a:p>
        </p:txBody>
      </p:sp>
    </p:spTree>
    <p:extLst>
      <p:ext uri="{BB962C8B-B14F-4D97-AF65-F5344CB8AC3E}">
        <p14:creationId xmlns:p14="http://schemas.microsoft.com/office/powerpoint/2010/main" val="56862235"/>
      </p:ext>
    </p:extLst>
  </p:cSld>
</p:sld>
</file>

<file path=ppt/slides/slide9.xml><?xml version="1.0" encoding="utf-8"?>
<p:sld xmlns:p="http://schemas.openxmlformats.org/presentationml/2006/main">
  <p:cSld>
    <p:bg>
      <p:bgPr>
        <a:solidFill xmlns:a="http://schemas.openxmlformats.org/drawingml/2006/main">
          <a:srgbClr val="F6F4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628CDD0-6AB5-40F3-BD86-5E8366F49DB2}"/>
              </a:ext>
            </a:extLst>
          </p:cNvPr>
          <p:cNvSpPr>
            <a:spLocks xmlns:a="http://schemas.openxmlformats.org/drawingml/2006/main" noGrp="1"/>
          </p:cNvSpPr>
          <p:nvPr/>
        </p:nvSpPr>
        <p:spPr>
          <a:xfrm xmlns:a="http://schemas.openxmlformats.org/drawingml/2006/main">
            <a:off x="523875" y="428625"/>
            <a:ext cx="1114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74F3E"/>
                </a:solidFill>
                <a:latin typeface="Nimbus Sans"/>
                <a:ea typeface="Nimbus Sans"/>
                <a:cs typeface="Nimbus Sans"/>
              </a:defRPr>
            </a:defPPr>
          </a:lstStyle>
          <a:p xmlns:a="http://schemas.openxmlformats.org/drawingml/2006/main">
            <a:pPr>
              <a:defRPr sz="3300" b="1">
                <a:solidFill>
                  <a:srgbClr val="174F3E"/>
                </a:solidFill>
                <a:latin typeface="Nimbus Sans"/>
                <a:ea typeface="Nimbus Sans"/>
                <a:cs typeface="Nimbus Sans"/>
              </a:defRPr>
            </a:pPr>
            <a:r>
              <a:rPr sz="3300" b="1">
                <a:solidFill>
                  <a:srgbClr val="174F3E"/>
                </a:solidFill>
                <a:latin typeface="Nimbus Sans"/>
                <a:ea typeface="Nimbus Sans"/>
                <a:cs typeface="Nimbus Sans"/>
              </a:rPr>
              <a:t>Projection methodology</a:t>
            </a:r>
          </a:p>
        </p:txBody>
      </p:sp>
      <p:sp>
        <p:nvSpPr>
          <p:cNvPr id="2" name="">
            <a:extLst xmlns:a="http://schemas.openxmlformats.org/drawingml/2006/main">
              <a:ext uri="{FF2B5EF4-FFF2-40B4-BE49-F238E27FC236}">
                <a16:creationId xmlns:a16="http://schemas.microsoft.com/office/drawing/2014/main" id="{4B3D37A5-209C-49C7-BE48-5F104D7FAE84}"/>
              </a:ext>
            </a:extLst>
          </p:cNvPr>
          <p:cNvSpPr>
            <a:spLocks xmlns:a="http://schemas.openxmlformats.org/drawingml/2006/main" noGrp="1"/>
          </p:cNvSpPr>
          <p:nvPr/>
        </p:nvSpPr>
        <p:spPr>
          <a:xfrm xmlns:a="http://schemas.openxmlformats.org/drawingml/2006/main">
            <a:off x="552450" y="119062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C33"/>
                </a:solidFill>
                <a:latin typeface="Nimbus Sans"/>
                <a:ea typeface="Nimbus Sans"/>
                <a:cs typeface="Nimbus Sans"/>
              </a:defRPr>
            </a:defPPr>
          </a:lstStyle>
          <a:p xmlns:a="http://schemas.openxmlformats.org/drawingml/2006/main">
            <a:pPr>
              <a:defRPr sz="1875" b="0">
                <a:solidFill>
                  <a:srgbClr val="203C33"/>
                </a:solidFill>
                <a:latin typeface="Nimbus Sans"/>
                <a:ea typeface="Nimbus Sans"/>
                <a:cs typeface="Nimbus Sans"/>
              </a:defRPr>
            </a:pPr>
            <a:r>
              <a:rPr sz="1875" b="0">
                <a:solidFill>
                  <a:srgbClr val="203C33"/>
                </a:solidFill>
                <a:latin typeface="Nimbus Sans"/>
                <a:ea typeface="Nimbus Sans"/>
                <a:cs typeface="Nimbus Sans"/>
              </a:rPr>
              <a:t>Past information drives each forecast</a:t>
            </a:r>
          </a:p>
        </p:txBody>
      </p:sp>
      <p:sp>
        <p:nvSpPr>
          <p:cNvPr id="3" name="">
            <a:extLst xmlns:a="http://schemas.openxmlformats.org/drawingml/2006/main">
              <a:ext uri="{FF2B5EF4-FFF2-40B4-BE49-F238E27FC236}">
                <a16:creationId xmlns:a16="http://schemas.microsoft.com/office/drawing/2014/main" id="{57DBA131-B54C-43D4-AEDB-C4D9D7051E2E}"/>
              </a:ext>
            </a:extLst>
          </p:cNvPr>
          <p:cNvSpPr>
            <a:spLocks xmlns:a="http://schemas.openxmlformats.org/drawingml/2006/main" noGrp="1"/>
          </p:cNvSpPr>
          <p:nvPr/>
        </p:nvSpPr>
        <p:spPr>
          <a:xfrm xmlns:a="http://schemas.openxmlformats.org/drawingml/2006/main">
            <a:off x="552450" y="1857375"/>
            <a:ext cx="10572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203C33"/>
                </a:solidFill>
                <a:latin typeface="Nimbus Sans"/>
                <a:ea typeface="Nimbus Sans"/>
                <a:cs typeface="Nimbus Sans"/>
              </a:defRPr>
            </a:defPPr>
          </a:lstStyle>
          <a:p xmlns:a="http://schemas.openxmlformats.org/drawingml/2006/main">
            <a:pPr marL="228600" indent="-114300">
              <a:spcAft>
                <a:spcPts val="1800"/>
              </a:spcAft>
              <a:buChar char="•"/>
              <a:defRPr sz="2700" b="0">
                <a:solidFill>
                  <a:srgbClr val="203C33"/>
                </a:solidFill>
                <a:latin typeface="Nimbus Sans"/>
                <a:ea typeface="Nimbus Sans"/>
                <a:cs typeface="Nimbus Sans"/>
              </a:defRPr>
            </a:pPr>
            <a:r>
              <a:rPr sz="2700" b="0">
                <a:solidFill>
                  <a:srgbClr val="203C33"/>
                </a:solidFill>
                <a:latin typeface="Nimbus Sans"/>
                <a:ea typeface="Nimbus Sans"/>
                <a:cs typeface="Nimbus Sans"/>
              </a:rPr>
              <a:t>24 features summarize recent usage, efficiency and defense.</a:t>
            </a:r>
          </a:p>
          <a:p xmlns:a="http://schemas.openxmlformats.org/drawingml/2006/main">
            <a:pPr marL="228600" indent="-114300">
              <a:spcAft>
                <a:spcPts val="1800"/>
              </a:spcAft>
              <a:buChar char="•"/>
              <a:defRPr sz="2700" b="0">
                <a:solidFill>
                  <a:srgbClr val="203C33"/>
                </a:solidFill>
                <a:latin typeface="Nimbus Sans"/>
                <a:ea typeface="Nimbus Sans"/>
                <a:cs typeface="Nimbus Sans"/>
              </a:defRPr>
            </a:pPr>
            <a:r>
              <a:rPr sz="2700" b="0">
                <a:solidFill>
                  <a:srgbClr val="203C33"/>
                </a:solidFill>
                <a:latin typeface="Nimbus Sans"/>
                <a:ea typeface="Nimbus Sans"/>
                <a:cs typeface="Nimbus Sans"/>
              </a:rPr>
              <a:t>All performance inputs precede the selected week.</a:t>
            </a:r>
          </a:p>
          <a:p xmlns:a="http://schemas.openxmlformats.org/drawingml/2006/main">
            <a:pPr marL="228600" indent="-114300">
              <a:spcAft>
                <a:spcPts val="1800"/>
              </a:spcAft>
              <a:buChar char="•"/>
              <a:defRPr sz="2700" b="0">
                <a:solidFill>
                  <a:srgbClr val="203C33"/>
                </a:solidFill>
                <a:latin typeface="Nimbus Sans"/>
                <a:ea typeface="Nimbus Sans"/>
                <a:cs typeface="Nimbus Sans"/>
              </a:defRPr>
            </a:pPr>
            <a:r>
              <a:rPr sz="2700" b="0">
                <a:solidFill>
                  <a:srgbClr val="203C33"/>
                </a:solidFill>
                <a:latin typeface="Nimbus Sans"/>
                <a:ea typeface="Nimbus Sans"/>
                <a:cs typeface="Nimbus Sans"/>
              </a:rPr>
              <a:t>The random forest predicts scoring components.</a:t>
            </a:r>
          </a:p>
          <a:p xmlns:a="http://schemas.openxmlformats.org/drawingml/2006/main">
            <a:pPr marL="228600" indent="-114300">
              <a:spcAft>
                <a:spcPts val="1800"/>
              </a:spcAft>
              <a:buChar char="•"/>
              <a:defRPr sz="2700" b="0">
                <a:solidFill>
                  <a:srgbClr val="203C33"/>
                </a:solidFill>
                <a:latin typeface="Nimbus Sans"/>
                <a:ea typeface="Nimbus Sans"/>
                <a:cs typeface="Nimbus Sans"/>
              </a:defRPr>
            </a:pPr>
            <a:r>
              <a:rPr sz="2700" b="0">
                <a:solidFill>
                  <a:srgbClr val="203C33"/>
                </a:solidFill>
                <a:latin typeface="Nimbus Sans"/>
                <a:ea typeface="Nimbus Sans"/>
                <a:cs typeface="Nimbus Sans"/>
              </a:rPr>
              <a:t>Training uses 2023–2024. Validation uses 2025.</a:t>
            </a:r>
          </a:p>
        </p:txBody>
      </p:sp>
      <p:sp>
        <p:nvSpPr>
          <p:cNvPr id="4" name="">
            <a:extLst xmlns:a="http://schemas.openxmlformats.org/drawingml/2006/main">
              <a:ext uri="{FF2B5EF4-FFF2-40B4-BE49-F238E27FC236}">
                <a16:creationId xmlns:a16="http://schemas.microsoft.com/office/drawing/2014/main" id="{678EB95F-6ED5-430C-9717-778B7B5A7345}"/>
              </a:ext>
            </a:extLst>
          </p:cNvPr>
          <p:cNvSpPr>
            <a:spLocks xmlns:a="http://schemas.openxmlformats.org/drawingml/2006/main" noGrp="1"/>
          </p:cNvSpPr>
          <p:nvPr/>
        </p:nvSpPr>
        <p:spPr>
          <a:xfrm xmlns:a="http://schemas.openxmlformats.org/drawingml/2006/main">
            <a:off x="552450" y="647700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203C33"/>
                </a:solidFill>
                <a:latin typeface="Nimbus Sans"/>
                <a:ea typeface="Nimbus Sans"/>
                <a:cs typeface="Nimbus Sans"/>
              </a:defRPr>
            </a:defPPr>
          </a:lstStyle>
          <a:p xmlns:a="http://schemas.openxmlformats.org/drawingml/2006/main">
            <a:pPr>
              <a:defRPr sz="1125" b="0">
                <a:solidFill>
                  <a:srgbClr val="203C33"/>
                </a:solidFill>
                <a:latin typeface="Nimbus Sans"/>
                <a:ea typeface="Nimbus Sans"/>
                <a:cs typeface="Nimbus Sans"/>
              </a:defRPr>
            </a:pPr>
            <a:r>
              <a:rPr sz="1125" b="0">
                <a:solidFill>
                  <a:srgbClr val="203C33"/>
                </a:solidFill>
                <a:latin typeface="Nimbus Sans"/>
                <a:ea typeface="Nimbus Sans"/>
                <a:cs typeface="Nimbus Sans"/>
              </a:rPr>
              <a:t>Sideline • IST 440W</a:t>
            </a:r>
          </a:p>
        </p:txBody>
      </p:sp>
      <p:sp>
        <p:nvSpPr>
          <p:cNvPr id="5" name="">
            <a:extLst xmlns:a="http://schemas.openxmlformats.org/drawingml/2006/main">
              <a:ext uri="{FF2B5EF4-FFF2-40B4-BE49-F238E27FC236}">
                <a16:creationId xmlns:a16="http://schemas.microsoft.com/office/drawing/2014/main" id="{8C65D829-6AAB-4405-9FBE-40CB20F0FF89}"/>
              </a:ext>
            </a:extLst>
          </p:cNvPr>
          <p:cNvSpPr>
            <a:spLocks xmlns:a="http://schemas.openxmlformats.org/drawingml/2006/main" noGrp="1"/>
          </p:cNvSpPr>
          <p:nvPr/>
        </p:nvSpPr>
        <p:spPr>
          <a:xfrm xmlns:a="http://schemas.openxmlformats.org/drawingml/2006/main">
            <a:off x="1123950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203C33"/>
                </a:solidFill>
                <a:latin typeface="Nimbus Sans"/>
                <a:ea typeface="Nimbus Sans"/>
                <a:cs typeface="Nimbus Sans"/>
              </a:defRPr>
            </a:defPPr>
          </a:lstStyle>
          <a:p xmlns:a="http://schemas.openxmlformats.org/drawingml/2006/main">
            <a:pPr>
              <a:defRPr sz="1125" b="0">
                <a:solidFill>
                  <a:srgbClr val="203C33"/>
                </a:solidFill>
                <a:latin typeface="Nimbus Sans"/>
                <a:ea typeface="Nimbus Sans"/>
                <a:cs typeface="Nimbus Sans"/>
              </a:defRPr>
            </a:pPr>
            <a:r>
              <a:rPr sz="1125" b="0">
                <a:solidFill>
                  <a:srgbClr val="203C33"/>
                </a:solidFill>
                <a:latin typeface="Nimbus Sans"/>
                <a:ea typeface="Nimbus Sans"/>
                <a:cs typeface="Nimbus Sans"/>
              </a:rPr>
              <a:t>09</a:t>
            </a:r>
          </a:p>
        </p:txBody>
      </p:sp>
    </p:spTree>
    <p:extLst>
      <p:ext uri="{BB962C8B-B14F-4D97-AF65-F5344CB8AC3E}">
        <p14:creationId xmlns:p14="http://schemas.microsoft.com/office/powerpoint/2010/main" val="211029671"/>
      </p:ext>
    </p:extLst>
  </p:cSld>
</p:sld>
</file>

<file path=ppt/slides/slide10.xml><?xml version="1.0" encoding="utf-8"?>
<p:sld xmlns:p="http://schemas.openxmlformats.org/presentationml/2006/main">
  <p:cSld>
    <p:bg>
      <p:bgPr>
        <a:solidFill xmlns:a="http://schemas.openxmlformats.org/drawingml/2006/main">
          <a:srgbClr val="F6F4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04359EB-9CBE-4732-90A5-25BED220D760}"/>
              </a:ext>
            </a:extLst>
          </p:cNvPr>
          <p:cNvSpPr>
            <a:spLocks xmlns:a="http://schemas.openxmlformats.org/drawingml/2006/main" noGrp="1"/>
          </p:cNvSpPr>
          <p:nvPr/>
        </p:nvSpPr>
        <p:spPr>
          <a:xfrm xmlns:a="http://schemas.openxmlformats.org/drawingml/2006/main">
            <a:off x="523875" y="428625"/>
            <a:ext cx="1114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74F3E"/>
                </a:solidFill>
                <a:latin typeface="Nimbus Sans"/>
                <a:ea typeface="Nimbus Sans"/>
                <a:cs typeface="Nimbus Sans"/>
              </a:defRPr>
            </a:defPPr>
          </a:lstStyle>
          <a:p xmlns:a="http://schemas.openxmlformats.org/drawingml/2006/main">
            <a:pPr>
              <a:defRPr sz="3300" b="1">
                <a:solidFill>
                  <a:srgbClr val="174F3E"/>
                </a:solidFill>
                <a:latin typeface="Nimbus Sans"/>
                <a:ea typeface="Nimbus Sans"/>
                <a:cs typeface="Nimbus Sans"/>
              </a:defRPr>
            </a:pPr>
            <a:r>
              <a:rPr sz="3300" b="1">
                <a:solidFill>
                  <a:srgbClr val="174F3E"/>
                </a:solidFill>
                <a:latin typeface="Nimbus Sans"/>
                <a:ea typeface="Nimbus Sans"/>
                <a:cs typeface="Nimbus Sans"/>
              </a:rPr>
              <a:t>More statistics do not guarantee lower error</a:t>
            </a:r>
          </a:p>
        </p:txBody>
      </p:sp>
      <p:sp>
        <p:nvSpPr>
          <p:cNvPr id="2" name="">
            <a:extLst xmlns:a="http://schemas.openxmlformats.org/drawingml/2006/main">
              <a:ext uri="{FF2B5EF4-FFF2-40B4-BE49-F238E27FC236}">
                <a16:creationId xmlns:a16="http://schemas.microsoft.com/office/drawing/2014/main" id="{7CB025F9-FC0A-4FAC-A97A-C4425505D766}"/>
              </a:ext>
            </a:extLst>
          </p:cNvPr>
          <p:cNvSpPr>
            <a:spLocks xmlns:a="http://schemas.openxmlformats.org/drawingml/2006/main" noGrp="1"/>
          </p:cNvSpPr>
          <p:nvPr/>
        </p:nvSpPr>
        <p:spPr>
          <a:xfrm xmlns:a="http://schemas.openxmlformats.org/drawingml/2006/main">
            <a:off x="552450" y="119062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C33"/>
                </a:solidFill>
                <a:latin typeface="Nimbus Sans"/>
                <a:ea typeface="Nimbus Sans"/>
                <a:cs typeface="Nimbus Sans"/>
              </a:defRPr>
            </a:defPPr>
          </a:lstStyle>
          <a:p xmlns:a="http://schemas.openxmlformats.org/drawingml/2006/main">
            <a:pPr>
              <a:defRPr sz="1875" b="0">
                <a:solidFill>
                  <a:srgbClr val="203C33"/>
                </a:solidFill>
                <a:latin typeface="Nimbus Sans"/>
                <a:ea typeface="Nimbus Sans"/>
                <a:cs typeface="Nimbus Sans"/>
              </a:defRPr>
            </a:pPr>
            <a:r>
              <a:rPr sz="1875" b="0">
                <a:solidFill>
                  <a:srgbClr val="203C33"/>
                </a:solidFill>
                <a:latin typeface="Nimbus Sans"/>
                <a:ea typeface="Nimbus Sans"/>
                <a:cs typeface="Nimbus Sans"/>
              </a:rPr>
              <a:t>Broad evaluation findings</a:t>
            </a:r>
          </a:p>
        </p:txBody>
      </p:sp>
      <p:sp>
        <p:nvSpPr>
          <p:cNvPr id="3" name="">
            <a:extLst xmlns:a="http://schemas.openxmlformats.org/drawingml/2006/main">
              <a:ext uri="{FF2B5EF4-FFF2-40B4-BE49-F238E27FC236}">
                <a16:creationId xmlns:a16="http://schemas.microsoft.com/office/drawing/2014/main" id="{EC586F2E-2A3F-4C34-BC01-41B5093B6749}"/>
              </a:ext>
            </a:extLst>
          </p:cNvPr>
          <p:cNvSpPr>
            <a:spLocks xmlns:a="http://schemas.openxmlformats.org/drawingml/2006/main" noGrp="1"/>
          </p:cNvSpPr>
          <p:nvPr/>
        </p:nvSpPr>
        <p:spPr>
          <a:xfrm xmlns:a="http://schemas.openxmlformats.org/drawingml/2006/main">
            <a:off x="552450" y="1857375"/>
            <a:ext cx="10572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203C33"/>
                </a:solidFill>
                <a:latin typeface="Nimbus Sans"/>
                <a:ea typeface="Nimbus Sans"/>
                <a:cs typeface="Nimbus Sans"/>
              </a:defRPr>
            </a:defPPr>
          </a:lstStyle>
          <a:p xmlns:a="http://schemas.openxmlformats.org/drawingml/2006/main">
            <a:pPr marL="228600" indent="-114300">
              <a:spcAft>
                <a:spcPts val="1800"/>
              </a:spcAft>
              <a:buChar char="•"/>
              <a:defRPr sz="2700" b="0">
                <a:solidFill>
                  <a:srgbClr val="203C33"/>
                </a:solidFill>
                <a:latin typeface="Nimbus Sans"/>
                <a:ea typeface="Nimbus Sans"/>
                <a:cs typeface="Nimbus Sans"/>
              </a:defRPr>
            </a:pPr>
            <a:r>
              <a:rPr sz="2700" b="0">
                <a:solidFill>
                  <a:srgbClr val="203C33"/>
                </a:solidFill>
                <a:latin typeface="Nimbus Sans"/>
                <a:ea typeface="Nimbus Sans"/>
                <a:cs typeface="Nimbus Sans"/>
              </a:rPr>
              <a:t>2025: enhanced MAE 4.218 vs baseline 4.207 PPR.</a:t>
            </a:r>
          </a:p>
          <a:p xmlns:a="http://schemas.openxmlformats.org/drawingml/2006/main">
            <a:pPr marL="228600" indent="-114300">
              <a:spcAft>
                <a:spcPts val="1800"/>
              </a:spcAft>
              <a:buChar char="•"/>
              <a:defRPr sz="2700" b="0">
                <a:solidFill>
                  <a:srgbClr val="203C33"/>
                </a:solidFill>
                <a:latin typeface="Nimbus Sans"/>
                <a:ea typeface="Nimbus Sans"/>
                <a:cs typeface="Nimbus Sans"/>
              </a:defRPr>
            </a:pPr>
            <a:r>
              <a:rPr sz="2700" b="0">
                <a:solidFill>
                  <a:srgbClr val="203C33"/>
                </a:solidFill>
                <a:latin typeface="Nimbus Sans"/>
                <a:ea typeface="Nimbus Sans"/>
                <a:cs typeface="Nimbus Sans"/>
              </a:rPr>
              <a:t>2025: enhanced RMSE 5.764 vs baseline 5.921.</a:t>
            </a:r>
          </a:p>
          <a:p xmlns:a="http://schemas.openxmlformats.org/drawingml/2006/main">
            <a:pPr marL="228600" indent="-114300">
              <a:spcAft>
                <a:spcPts val="1800"/>
              </a:spcAft>
              <a:buChar char="•"/>
              <a:defRPr sz="2700" b="0">
                <a:solidFill>
                  <a:srgbClr val="203C33"/>
                </a:solidFill>
                <a:latin typeface="Nimbus Sans"/>
                <a:ea typeface="Nimbus Sans"/>
                <a:cs typeface="Nimbus Sans"/>
              </a:defRPr>
            </a:pPr>
            <a:r>
              <a:rPr sz="2700" b="0">
                <a:solidFill>
                  <a:srgbClr val="203C33"/>
                </a:solidFill>
                <a:latin typeface="Nimbus Sans"/>
                <a:ea typeface="Nimbus Sans"/>
                <a:cs typeface="Nimbus Sans"/>
              </a:rPr>
              <a:t>2026 Weeks 1–4: MAE 4.504 vs baseline 4.539.</a:t>
            </a:r>
          </a:p>
          <a:p xmlns:a="http://schemas.openxmlformats.org/drawingml/2006/main">
            <a:pPr marL="228600" indent="-114300">
              <a:spcAft>
                <a:spcPts val="1800"/>
              </a:spcAft>
              <a:buChar char="•"/>
              <a:defRPr sz="2700" b="0">
                <a:solidFill>
                  <a:srgbClr val="203C33"/>
                </a:solidFill>
                <a:latin typeface="Nimbus Sans"/>
                <a:ea typeface="Nimbus Sans"/>
                <a:cs typeface="Nimbus Sans"/>
              </a:defRPr>
            </a:pPr>
            <a:r>
              <a:rPr sz="2700" b="0">
                <a:solidFill>
                  <a:srgbClr val="203C33"/>
                </a:solidFill>
                <a:latin typeface="Nimbus Sans"/>
                <a:ea typeface="Nimbus Sans"/>
                <a:cs typeface="Nimbus Sans"/>
              </a:rPr>
              <a:t>The 2026 results are a diagnostic replay.</a:t>
            </a:r>
          </a:p>
        </p:txBody>
      </p:sp>
      <p:sp>
        <p:nvSpPr>
          <p:cNvPr id="4" name="">
            <a:extLst xmlns:a="http://schemas.openxmlformats.org/drawingml/2006/main">
              <a:ext uri="{FF2B5EF4-FFF2-40B4-BE49-F238E27FC236}">
                <a16:creationId xmlns:a16="http://schemas.microsoft.com/office/drawing/2014/main" id="{19905478-72AC-4A8A-BF9E-52A8E3305AD4}"/>
              </a:ext>
            </a:extLst>
          </p:cNvPr>
          <p:cNvSpPr>
            <a:spLocks xmlns:a="http://schemas.openxmlformats.org/drawingml/2006/main" noGrp="1"/>
          </p:cNvSpPr>
          <p:nvPr/>
        </p:nvSpPr>
        <p:spPr>
          <a:xfrm xmlns:a="http://schemas.openxmlformats.org/drawingml/2006/main">
            <a:off x="552450" y="647700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203C33"/>
                </a:solidFill>
                <a:latin typeface="Nimbus Sans"/>
                <a:ea typeface="Nimbus Sans"/>
                <a:cs typeface="Nimbus Sans"/>
              </a:defRPr>
            </a:defPPr>
          </a:lstStyle>
          <a:p xmlns:a="http://schemas.openxmlformats.org/drawingml/2006/main">
            <a:pPr>
              <a:defRPr sz="1125" b="0">
                <a:solidFill>
                  <a:srgbClr val="203C33"/>
                </a:solidFill>
                <a:latin typeface="Nimbus Sans"/>
                <a:ea typeface="Nimbus Sans"/>
                <a:cs typeface="Nimbus Sans"/>
              </a:defRPr>
            </a:pPr>
            <a:r>
              <a:rPr sz="1125" b="0">
                <a:solidFill>
                  <a:srgbClr val="203C33"/>
                </a:solidFill>
                <a:latin typeface="Nimbus Sans"/>
                <a:ea typeface="Nimbus Sans"/>
                <a:cs typeface="Nimbus Sans"/>
              </a:rPr>
              <a:t>Sideline • IST 440W</a:t>
            </a:r>
          </a:p>
        </p:txBody>
      </p:sp>
      <p:sp>
        <p:nvSpPr>
          <p:cNvPr id="5" name="">
            <a:extLst xmlns:a="http://schemas.openxmlformats.org/drawingml/2006/main">
              <a:ext uri="{FF2B5EF4-FFF2-40B4-BE49-F238E27FC236}">
                <a16:creationId xmlns:a16="http://schemas.microsoft.com/office/drawing/2014/main" id="{EFA8AA39-05D4-4404-AE42-10A89CDC939A}"/>
              </a:ext>
            </a:extLst>
          </p:cNvPr>
          <p:cNvSpPr>
            <a:spLocks xmlns:a="http://schemas.openxmlformats.org/drawingml/2006/main" noGrp="1"/>
          </p:cNvSpPr>
          <p:nvPr/>
        </p:nvSpPr>
        <p:spPr>
          <a:xfrm xmlns:a="http://schemas.openxmlformats.org/drawingml/2006/main">
            <a:off x="1123950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203C33"/>
                </a:solidFill>
                <a:latin typeface="Nimbus Sans"/>
                <a:ea typeface="Nimbus Sans"/>
                <a:cs typeface="Nimbus Sans"/>
              </a:defRPr>
            </a:defPPr>
          </a:lstStyle>
          <a:p xmlns:a="http://schemas.openxmlformats.org/drawingml/2006/main">
            <a:pPr>
              <a:defRPr sz="1125" b="0">
                <a:solidFill>
                  <a:srgbClr val="203C33"/>
                </a:solidFill>
                <a:latin typeface="Nimbus Sans"/>
                <a:ea typeface="Nimbus Sans"/>
                <a:cs typeface="Nimbus Sans"/>
              </a:defRPr>
            </a:pPr>
            <a:r>
              <a:rPr sz="1125" b="0">
                <a:solidFill>
                  <a:srgbClr val="203C33"/>
                </a:solidFill>
                <a:latin typeface="Nimbus Sans"/>
                <a:ea typeface="Nimbus Sans"/>
                <a:cs typeface="Nimbus Sans"/>
              </a:rPr>
              <a:t>10</a:t>
            </a:r>
          </a:p>
        </p:txBody>
      </p:sp>
    </p:spTree>
    <p:extLst>
      <p:ext uri="{BB962C8B-B14F-4D97-AF65-F5344CB8AC3E}">
        <p14:creationId xmlns:p14="http://schemas.microsoft.com/office/powerpoint/2010/main" val="1108678299"/>
      </p:ext>
    </p:extLst>
  </p:cSld>
</p:sld>
</file>

<file path=ppt/slides/slide11.xml><?xml version="1.0" encoding="utf-8"?>
<p:sld xmlns:p="http://schemas.openxmlformats.org/presentationml/2006/main">
  <p:cSld>
    <p:bg>
      <p:bgPr>
        <a:solidFill xmlns:a="http://schemas.openxmlformats.org/drawingml/2006/main">
          <a:srgbClr val="F6F4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E8859F0-4721-431F-85DA-304568A1DE9C}"/>
              </a:ext>
            </a:extLst>
          </p:cNvPr>
          <p:cNvSpPr>
            <a:spLocks xmlns:a="http://schemas.openxmlformats.org/drawingml/2006/main" noGrp="1"/>
          </p:cNvSpPr>
          <p:nvPr/>
        </p:nvSpPr>
        <p:spPr>
          <a:xfrm xmlns:a="http://schemas.openxmlformats.org/drawingml/2006/main">
            <a:off x="523875" y="428625"/>
            <a:ext cx="1114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74F3E"/>
                </a:solidFill>
                <a:latin typeface="Nimbus Sans"/>
                <a:ea typeface="Nimbus Sans"/>
                <a:cs typeface="Nimbus Sans"/>
              </a:defRPr>
            </a:defPPr>
          </a:lstStyle>
          <a:p xmlns:a="http://schemas.openxmlformats.org/drawingml/2006/main">
            <a:pPr>
              <a:defRPr sz="3300" b="1">
                <a:solidFill>
                  <a:srgbClr val="174F3E"/>
                </a:solidFill>
                <a:latin typeface="Nimbus Sans"/>
                <a:ea typeface="Nimbus Sans"/>
                <a:cs typeface="Nimbus Sans"/>
              </a:defRPr>
            </a:pPr>
            <a:r>
              <a:rPr sz="3300" b="1">
                <a:solidFill>
                  <a:srgbClr val="174F3E"/>
                </a:solidFill>
                <a:latin typeface="Nimbus Sans"/>
                <a:ea typeface="Nimbus Sans"/>
                <a:cs typeface="Nimbus Sans"/>
              </a:rPr>
              <a:t>My roster: the Week 1 comparison</a:t>
            </a:r>
          </a:p>
        </p:txBody>
      </p:sp>
      <p:sp>
        <p:nvSpPr>
          <p:cNvPr id="2" name="">
            <a:extLst xmlns:a="http://schemas.openxmlformats.org/drawingml/2006/main">
              <a:ext uri="{FF2B5EF4-FFF2-40B4-BE49-F238E27FC236}">
                <a16:creationId xmlns:a16="http://schemas.microsoft.com/office/drawing/2014/main" id="{5D42ED7D-58C5-45AC-98D0-0ABDD3EB7069}"/>
              </a:ext>
            </a:extLst>
          </p:cNvPr>
          <p:cNvSpPr>
            <a:spLocks xmlns:a="http://schemas.openxmlformats.org/drawingml/2006/main" noGrp="1"/>
          </p:cNvSpPr>
          <p:nvPr/>
        </p:nvSpPr>
        <p:spPr>
          <a:xfrm xmlns:a="http://schemas.openxmlformats.org/drawingml/2006/main">
            <a:off x="552450" y="119062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C33"/>
                </a:solidFill>
                <a:latin typeface="Nimbus Sans"/>
                <a:ea typeface="Nimbus Sans"/>
                <a:cs typeface="Nimbus Sans"/>
              </a:defRPr>
            </a:defPPr>
          </a:lstStyle>
          <a:p xmlns:a="http://schemas.openxmlformats.org/drawingml/2006/main">
            <a:pPr>
              <a:defRPr sz="1875" b="0">
                <a:solidFill>
                  <a:srgbClr val="203C33"/>
                </a:solidFill>
                <a:latin typeface="Nimbus Sans"/>
                <a:ea typeface="Nimbus Sans"/>
                <a:cs typeface="Nimbus Sans"/>
              </a:defRPr>
            </a:pPr>
            <a:r>
              <a:rPr sz="1875" b="0">
                <a:solidFill>
                  <a:srgbClr val="203C33"/>
                </a:solidFill>
                <a:latin typeface="Nimbus Sans"/>
                <a:ea typeface="Nimbus Sans"/>
                <a:cs typeface="Nimbus Sans"/>
              </a:rPr>
              <a:t>Five user-confirmed league scores</a:t>
            </a:r>
          </a:p>
        </p:txBody>
      </p:sp>
      <p:sp>
        <p:nvSpPr>
          <p:cNvPr id="3" name="">
            <a:extLst xmlns:a="http://schemas.openxmlformats.org/drawingml/2006/main">
              <a:ext uri="{FF2B5EF4-FFF2-40B4-BE49-F238E27FC236}">
                <a16:creationId xmlns:a16="http://schemas.microsoft.com/office/drawing/2014/main" id="{EFEB41AF-B707-48D8-B45C-6035BDC7C75F}"/>
              </a:ext>
            </a:extLst>
          </p:cNvPr>
          <p:cNvSpPr>
            <a:spLocks xmlns:a="http://schemas.openxmlformats.org/drawingml/2006/main" noGrp="1"/>
          </p:cNvSpPr>
          <p:nvPr/>
        </p:nvSpPr>
        <p:spPr>
          <a:xfrm xmlns:a="http://schemas.openxmlformats.org/drawingml/2006/main">
            <a:off x="552450" y="1857375"/>
            <a:ext cx="10572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203C33"/>
                </a:solidFill>
                <a:latin typeface="Nimbus Sans"/>
                <a:ea typeface="Nimbus Sans"/>
                <a:cs typeface="Nimbus Sans"/>
              </a:defRPr>
            </a:defPPr>
          </a:lstStyle>
          <a:p xmlns:a="http://schemas.openxmlformats.org/drawingml/2006/main">
            <a:pPr marL="228600" indent="-114300">
              <a:spcAft>
                <a:spcPts val="1800"/>
              </a:spcAft>
              <a:buChar char="•"/>
              <a:defRPr sz="2700" b="0">
                <a:solidFill>
                  <a:srgbClr val="203C33"/>
                </a:solidFill>
                <a:latin typeface="Nimbus Sans"/>
                <a:ea typeface="Nimbus Sans"/>
                <a:cs typeface="Nimbus Sans"/>
              </a:defRPr>
            </a:pPr>
            <a:r>
              <a:rPr sz="2700" b="0">
                <a:solidFill>
                  <a:srgbClr val="203C33"/>
                </a:solidFill>
                <a:latin typeface="Nimbus Sans"/>
                <a:ea typeface="Nimbus Sans"/>
                <a:cs typeface="Nimbus Sans"/>
              </a:rPr>
              <a:t>Enhanced MAE: 5.456 PPR. Original baseline: 7.424.</a:t>
            </a:r>
          </a:p>
          <a:p xmlns:a="http://schemas.openxmlformats.org/drawingml/2006/main">
            <a:pPr marL="228600" indent="-114300">
              <a:spcAft>
                <a:spcPts val="1800"/>
              </a:spcAft>
              <a:buChar char="•"/>
              <a:defRPr sz="2700" b="0">
                <a:solidFill>
                  <a:srgbClr val="203C33"/>
                </a:solidFill>
                <a:latin typeface="Nimbus Sans"/>
                <a:ea typeface="Nimbus Sans"/>
                <a:cs typeface="Nimbus Sans"/>
              </a:defRPr>
            </a:pPr>
            <a:r>
              <a:rPr sz="2700" b="0">
                <a:solidFill>
                  <a:srgbClr val="203C33"/>
                </a:solidFill>
                <a:latin typeface="Nimbus Sans"/>
                <a:ea typeface="Nimbus Sans"/>
                <a:cs typeface="Nimbus Sans"/>
              </a:rPr>
              <a:t>Golden: projected 3.87, actual 15.5.</a:t>
            </a:r>
          </a:p>
          <a:p xmlns:a="http://schemas.openxmlformats.org/drawingml/2006/main">
            <a:pPr marL="228600" indent="-114300">
              <a:spcAft>
                <a:spcPts val="1800"/>
              </a:spcAft>
              <a:buChar char="•"/>
              <a:defRPr sz="2700" b="0">
                <a:solidFill>
                  <a:srgbClr val="203C33"/>
                </a:solidFill>
                <a:latin typeface="Nimbus Sans"/>
                <a:ea typeface="Nimbus Sans"/>
                <a:cs typeface="Nimbus Sans"/>
              </a:defRPr>
            </a:pPr>
            <a:r>
              <a:rPr sz="2700" b="0">
                <a:solidFill>
                  <a:srgbClr val="203C33"/>
                </a:solidFill>
                <a:latin typeface="Nimbus Sans"/>
                <a:ea typeface="Nimbus Sans"/>
                <a:cs typeface="Nimbus Sans"/>
              </a:rPr>
              <a:t>Adams: projected 13.19, actual 5.6.</a:t>
            </a:r>
          </a:p>
          <a:p xmlns:a="http://schemas.openxmlformats.org/drawingml/2006/main">
            <a:pPr marL="228600" indent="-114300">
              <a:spcAft>
                <a:spcPts val="1800"/>
              </a:spcAft>
              <a:buChar char="•"/>
              <a:defRPr sz="2700" b="0">
                <a:solidFill>
                  <a:srgbClr val="203C33"/>
                </a:solidFill>
                <a:latin typeface="Nimbus Sans"/>
                <a:ea typeface="Nimbus Sans"/>
                <a:cs typeface="Nimbus Sans"/>
              </a:defRPr>
            </a:pPr>
            <a:r>
              <a:rPr sz="2700" b="0">
                <a:solidFill>
                  <a:srgbClr val="203C33"/>
                </a:solidFill>
                <a:latin typeface="Nimbus Sans"/>
                <a:ea typeface="Nimbus Sans"/>
                <a:cs typeface="Nimbus Sans"/>
              </a:rPr>
              <a:t>Five cases support a demonstration, not a general accuracy claim.</a:t>
            </a:r>
          </a:p>
        </p:txBody>
      </p:sp>
      <p:sp>
        <p:nvSpPr>
          <p:cNvPr id="4" name="">
            <a:extLst xmlns:a="http://schemas.openxmlformats.org/drawingml/2006/main">
              <a:ext uri="{FF2B5EF4-FFF2-40B4-BE49-F238E27FC236}">
                <a16:creationId xmlns:a16="http://schemas.microsoft.com/office/drawing/2014/main" id="{E5424884-68B8-413C-AB67-84DF3E108349}"/>
              </a:ext>
            </a:extLst>
          </p:cNvPr>
          <p:cNvSpPr>
            <a:spLocks xmlns:a="http://schemas.openxmlformats.org/drawingml/2006/main" noGrp="1"/>
          </p:cNvSpPr>
          <p:nvPr/>
        </p:nvSpPr>
        <p:spPr>
          <a:xfrm xmlns:a="http://schemas.openxmlformats.org/drawingml/2006/main">
            <a:off x="552450" y="647700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203C33"/>
                </a:solidFill>
                <a:latin typeface="Nimbus Sans"/>
                <a:ea typeface="Nimbus Sans"/>
                <a:cs typeface="Nimbus Sans"/>
              </a:defRPr>
            </a:defPPr>
          </a:lstStyle>
          <a:p xmlns:a="http://schemas.openxmlformats.org/drawingml/2006/main">
            <a:pPr>
              <a:defRPr sz="1125" b="0">
                <a:solidFill>
                  <a:srgbClr val="203C33"/>
                </a:solidFill>
                <a:latin typeface="Nimbus Sans"/>
                <a:ea typeface="Nimbus Sans"/>
                <a:cs typeface="Nimbus Sans"/>
              </a:defRPr>
            </a:pPr>
            <a:r>
              <a:rPr sz="1125" b="0">
                <a:solidFill>
                  <a:srgbClr val="203C33"/>
                </a:solidFill>
                <a:latin typeface="Nimbus Sans"/>
                <a:ea typeface="Nimbus Sans"/>
                <a:cs typeface="Nimbus Sans"/>
              </a:rPr>
              <a:t>Sideline • IST 440W</a:t>
            </a:r>
          </a:p>
        </p:txBody>
      </p:sp>
      <p:sp>
        <p:nvSpPr>
          <p:cNvPr id="5" name="">
            <a:extLst xmlns:a="http://schemas.openxmlformats.org/drawingml/2006/main">
              <a:ext uri="{FF2B5EF4-FFF2-40B4-BE49-F238E27FC236}">
                <a16:creationId xmlns:a16="http://schemas.microsoft.com/office/drawing/2014/main" id="{77B5FD03-1C59-4292-B89B-234D58D8BD86}"/>
              </a:ext>
            </a:extLst>
          </p:cNvPr>
          <p:cNvSpPr>
            <a:spLocks xmlns:a="http://schemas.openxmlformats.org/drawingml/2006/main" noGrp="1"/>
          </p:cNvSpPr>
          <p:nvPr/>
        </p:nvSpPr>
        <p:spPr>
          <a:xfrm xmlns:a="http://schemas.openxmlformats.org/drawingml/2006/main">
            <a:off x="1123950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203C33"/>
                </a:solidFill>
                <a:latin typeface="Nimbus Sans"/>
                <a:ea typeface="Nimbus Sans"/>
                <a:cs typeface="Nimbus Sans"/>
              </a:defRPr>
            </a:defPPr>
          </a:lstStyle>
          <a:p xmlns:a="http://schemas.openxmlformats.org/drawingml/2006/main">
            <a:pPr>
              <a:defRPr sz="1125" b="0">
                <a:solidFill>
                  <a:srgbClr val="203C33"/>
                </a:solidFill>
                <a:latin typeface="Nimbus Sans"/>
                <a:ea typeface="Nimbus Sans"/>
                <a:cs typeface="Nimbus Sans"/>
              </a:defRPr>
            </a:pPr>
            <a:r>
              <a:rPr sz="1125" b="0">
                <a:solidFill>
                  <a:srgbClr val="203C33"/>
                </a:solidFill>
                <a:latin typeface="Nimbus Sans"/>
                <a:ea typeface="Nimbus Sans"/>
                <a:cs typeface="Nimbus Sans"/>
              </a:rPr>
              <a:t>11</a:t>
            </a:r>
          </a:p>
        </p:txBody>
      </p:sp>
    </p:spTree>
    <p:extLst>
      <p:ext uri="{BB962C8B-B14F-4D97-AF65-F5344CB8AC3E}">
        <p14:creationId xmlns:p14="http://schemas.microsoft.com/office/powerpoint/2010/main" val="2112042085"/>
      </p:ext>
    </p:extLst>
  </p:cSld>
</p:sld>
</file>

<file path=ppt/slides/slide12.xml><?xml version="1.0" encoding="utf-8"?>
<p:sld xmlns:p="http://schemas.openxmlformats.org/presentationml/2006/main">
  <p:cSld>
    <p:bg>
      <p:bgPr>
        <a:solidFill xmlns:a="http://schemas.openxmlformats.org/drawingml/2006/main">
          <a:srgbClr val="F6F4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246E970-F755-4267-9A30-267D37361B2D}"/>
              </a:ext>
            </a:extLst>
          </p:cNvPr>
          <p:cNvSpPr>
            <a:spLocks xmlns:a="http://schemas.openxmlformats.org/drawingml/2006/main" noGrp="1"/>
          </p:cNvSpPr>
          <p:nvPr/>
        </p:nvSpPr>
        <p:spPr>
          <a:xfrm xmlns:a="http://schemas.openxmlformats.org/drawingml/2006/main">
            <a:off x="523875" y="428625"/>
            <a:ext cx="11144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74F3E"/>
                </a:solidFill>
                <a:latin typeface="Nimbus Sans"/>
                <a:ea typeface="Nimbus Sans"/>
                <a:cs typeface="Nimbus Sans"/>
              </a:defRPr>
            </a:defPPr>
          </a:lstStyle>
          <a:p xmlns:a="http://schemas.openxmlformats.org/drawingml/2006/main">
            <a:pPr>
              <a:defRPr sz="3300" b="1">
                <a:solidFill>
                  <a:srgbClr val="174F3E"/>
                </a:solidFill>
                <a:latin typeface="Nimbus Sans"/>
                <a:ea typeface="Nimbus Sans"/>
                <a:cs typeface="Nimbus Sans"/>
              </a:defRPr>
            </a:pPr>
            <a:r>
              <a:rPr sz="3300" b="1">
                <a:solidFill>
                  <a:srgbClr val="174F3E"/>
                </a:solidFill>
                <a:latin typeface="Nimbus Sans"/>
                <a:ea typeface="Nimbus Sans"/>
                <a:cs typeface="Nimbus Sans"/>
              </a:rPr>
              <a:t>Reflection and future work</a:t>
            </a:r>
          </a:p>
        </p:txBody>
      </p:sp>
      <p:sp>
        <p:nvSpPr>
          <p:cNvPr id="2" name="">
            <a:extLst xmlns:a="http://schemas.openxmlformats.org/drawingml/2006/main">
              <a:ext uri="{FF2B5EF4-FFF2-40B4-BE49-F238E27FC236}">
                <a16:creationId xmlns:a16="http://schemas.microsoft.com/office/drawing/2014/main" id="{8AB89F1A-15B7-42CD-81E8-27C0CDF9E0C2}"/>
              </a:ext>
            </a:extLst>
          </p:cNvPr>
          <p:cNvSpPr>
            <a:spLocks xmlns:a="http://schemas.openxmlformats.org/drawingml/2006/main" noGrp="1"/>
          </p:cNvSpPr>
          <p:nvPr/>
        </p:nvSpPr>
        <p:spPr>
          <a:xfrm xmlns:a="http://schemas.openxmlformats.org/drawingml/2006/main">
            <a:off x="552450" y="119062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C33"/>
                </a:solidFill>
                <a:latin typeface="Nimbus Sans"/>
                <a:ea typeface="Nimbus Sans"/>
                <a:cs typeface="Nimbus Sans"/>
              </a:defRPr>
            </a:defPPr>
          </a:lstStyle>
          <a:p xmlns:a="http://schemas.openxmlformats.org/drawingml/2006/main">
            <a:pPr>
              <a:defRPr sz="1875" b="0">
                <a:solidFill>
                  <a:srgbClr val="203C33"/>
                </a:solidFill>
                <a:latin typeface="Nimbus Sans"/>
                <a:ea typeface="Nimbus Sans"/>
                <a:cs typeface="Nimbus Sans"/>
              </a:defRPr>
            </a:pPr>
            <a:r>
              <a:rPr sz="1875" b="0">
                <a:solidFill>
                  <a:srgbClr val="203C33"/>
                </a:solidFill>
                <a:latin typeface="Nimbus Sans"/>
                <a:ea typeface="Nimbus Sans"/>
                <a:cs typeface="Nimbus Sans"/>
              </a:rPr>
              <a:t>What remains before submission</a:t>
            </a:r>
          </a:p>
        </p:txBody>
      </p:sp>
      <p:sp>
        <p:nvSpPr>
          <p:cNvPr id="3" name="">
            <a:extLst xmlns:a="http://schemas.openxmlformats.org/drawingml/2006/main">
              <a:ext uri="{FF2B5EF4-FFF2-40B4-BE49-F238E27FC236}">
                <a16:creationId xmlns:a16="http://schemas.microsoft.com/office/drawing/2014/main" id="{683E2237-6B88-421D-B277-9C8D9409B28C}"/>
              </a:ext>
            </a:extLst>
          </p:cNvPr>
          <p:cNvSpPr>
            <a:spLocks xmlns:a="http://schemas.openxmlformats.org/drawingml/2006/main" noGrp="1"/>
          </p:cNvSpPr>
          <p:nvPr/>
        </p:nvSpPr>
        <p:spPr>
          <a:xfrm xmlns:a="http://schemas.openxmlformats.org/drawingml/2006/main">
            <a:off x="552450" y="1857375"/>
            <a:ext cx="10572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0">
                <a:solidFill>
                  <a:srgbClr val="203C33"/>
                </a:solidFill>
                <a:latin typeface="Nimbus Sans"/>
                <a:ea typeface="Nimbus Sans"/>
                <a:cs typeface="Nimbus Sans"/>
              </a:defRPr>
            </a:defPPr>
          </a:lstStyle>
          <a:p xmlns:a="http://schemas.openxmlformats.org/drawingml/2006/main">
            <a:pPr marL="228600" indent="-114300">
              <a:spcAft>
                <a:spcPts val="1800"/>
              </a:spcAft>
              <a:buChar char="•"/>
              <a:defRPr sz="2700" b="0">
                <a:solidFill>
                  <a:srgbClr val="203C33"/>
                </a:solidFill>
                <a:latin typeface="Nimbus Sans"/>
                <a:ea typeface="Nimbus Sans"/>
                <a:cs typeface="Nimbus Sans"/>
              </a:defRPr>
            </a:pPr>
            <a:r>
              <a:rPr sz="2700" b="0">
                <a:solidFill>
                  <a:srgbClr val="203C33"/>
                </a:solidFill>
                <a:latin typeface="Nimbus Sans"/>
                <a:ea typeface="Nimbus Sans"/>
                <a:cs typeface="Nimbus Sans"/>
              </a:rPr>
              <a:t>The working app makes deeper statistics easier to inspect.</a:t>
            </a:r>
          </a:p>
          <a:p xmlns:a="http://schemas.openxmlformats.org/drawingml/2006/main">
            <a:pPr marL="228600" indent="-114300">
              <a:spcAft>
                <a:spcPts val="1800"/>
              </a:spcAft>
              <a:buChar char="•"/>
              <a:defRPr sz="2700" b="0">
                <a:solidFill>
                  <a:srgbClr val="203C33"/>
                </a:solidFill>
                <a:latin typeface="Nimbus Sans"/>
                <a:ea typeface="Nimbus Sans"/>
                <a:cs typeface="Nimbus Sans"/>
              </a:defRPr>
            </a:pPr>
            <a:r>
              <a:rPr sz="2700" b="0">
                <a:solidFill>
                  <a:srgbClr val="203C33"/>
                </a:solidFill>
                <a:latin typeface="Nimbus Sans"/>
                <a:ea typeface="Nimbus Sans"/>
                <a:cs typeface="Nimbus Sans"/>
              </a:rPr>
              <a:t>Data coverage and leakage required careful handling.</a:t>
            </a:r>
          </a:p>
          <a:p xmlns:a="http://schemas.openxmlformats.org/drawingml/2006/main">
            <a:pPr marL="228600" indent="-114300">
              <a:spcAft>
                <a:spcPts val="1800"/>
              </a:spcAft>
              <a:buChar char="•"/>
              <a:defRPr sz="2700" b="0">
                <a:solidFill>
                  <a:srgbClr val="203C33"/>
                </a:solidFill>
                <a:latin typeface="Nimbus Sans"/>
                <a:ea typeface="Nimbus Sans"/>
                <a:cs typeface="Nimbus Sans"/>
              </a:defRPr>
            </a:pPr>
            <a:r>
              <a:rPr sz="2700" b="0">
                <a:solidFill>
                  <a:srgbClr val="203C33"/>
                </a:solidFill>
                <a:latin typeface="Nimbus Sans"/>
                <a:ea typeface="Nimbus Sans"/>
                <a:cs typeface="Nimbus Sans"/>
              </a:rPr>
              <a:t>Classmate usability tests and a separate-computer check remain.</a:t>
            </a:r>
          </a:p>
          <a:p xmlns:a="http://schemas.openxmlformats.org/drawingml/2006/main">
            <a:pPr marL="228600" indent="-114300">
              <a:spcAft>
                <a:spcPts val="1800"/>
              </a:spcAft>
              <a:buChar char="•"/>
              <a:defRPr sz="2700" b="0">
                <a:solidFill>
                  <a:srgbClr val="203C33"/>
                </a:solidFill>
                <a:latin typeface="Nimbus Sans"/>
                <a:ea typeface="Nimbus Sans"/>
                <a:cs typeface="Nimbus Sans"/>
              </a:defRPr>
            </a:pPr>
            <a:r>
              <a:rPr sz="2700" b="0">
                <a:solidFill>
                  <a:srgbClr val="203C33"/>
                </a:solidFill>
                <a:latin typeface="Nimbus Sans"/>
                <a:ea typeface="Nimbus Sans"/>
                <a:cs typeface="Nimbus Sans"/>
              </a:rPr>
              <a:t>Public GitHub upload and a face-visible recording remain.</a:t>
            </a:r>
          </a:p>
          <a:p xmlns:a="http://schemas.openxmlformats.org/drawingml/2006/main">
            <a:pPr marL="228600" indent="-114300">
              <a:spcAft>
                <a:spcPts val="1800"/>
              </a:spcAft>
              <a:buChar char="•"/>
              <a:defRPr sz="2700" b="0">
                <a:solidFill>
                  <a:srgbClr val="203C33"/>
                </a:solidFill>
                <a:latin typeface="Nimbus Sans"/>
                <a:ea typeface="Nimbus Sans"/>
                <a:cs typeface="Nimbus Sans"/>
              </a:defRPr>
            </a:pPr>
            <a:r>
              <a:rPr sz="2700" b="0">
                <a:solidFill>
                  <a:srgbClr val="203C33"/>
                </a:solidFill>
                <a:latin typeface="Nimbus Sans"/>
                <a:ea typeface="Nimbus Sans"/>
                <a:cs typeface="Nimbus Sans"/>
              </a:rPr>
              <a:t>Future work: reliable routes, injury and weather inputs.</a:t>
            </a:r>
          </a:p>
        </p:txBody>
      </p:sp>
      <p:sp>
        <p:nvSpPr>
          <p:cNvPr id="4" name="">
            <a:extLst xmlns:a="http://schemas.openxmlformats.org/drawingml/2006/main">
              <a:ext uri="{FF2B5EF4-FFF2-40B4-BE49-F238E27FC236}">
                <a16:creationId xmlns:a16="http://schemas.microsoft.com/office/drawing/2014/main" id="{1AA73CFB-FFA3-4312-BDF3-4FB889A72CEF}"/>
              </a:ext>
            </a:extLst>
          </p:cNvPr>
          <p:cNvSpPr>
            <a:spLocks xmlns:a="http://schemas.openxmlformats.org/drawingml/2006/main" noGrp="1"/>
          </p:cNvSpPr>
          <p:nvPr/>
        </p:nvSpPr>
        <p:spPr>
          <a:xfrm xmlns:a="http://schemas.openxmlformats.org/drawingml/2006/main">
            <a:off x="552450" y="6477000"/>
            <a:ext cx="9048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203C33"/>
                </a:solidFill>
                <a:latin typeface="Nimbus Sans"/>
                <a:ea typeface="Nimbus Sans"/>
                <a:cs typeface="Nimbus Sans"/>
              </a:defRPr>
            </a:defPPr>
          </a:lstStyle>
          <a:p xmlns:a="http://schemas.openxmlformats.org/drawingml/2006/main">
            <a:pPr>
              <a:defRPr sz="1125" b="0">
                <a:solidFill>
                  <a:srgbClr val="203C33"/>
                </a:solidFill>
                <a:latin typeface="Nimbus Sans"/>
                <a:ea typeface="Nimbus Sans"/>
                <a:cs typeface="Nimbus Sans"/>
              </a:defRPr>
            </a:pPr>
            <a:r>
              <a:rPr sz="1125" b="0">
                <a:solidFill>
                  <a:srgbClr val="203C33"/>
                </a:solidFill>
                <a:latin typeface="Nimbus Sans"/>
                <a:ea typeface="Nimbus Sans"/>
                <a:cs typeface="Nimbus Sans"/>
              </a:rPr>
              <a:t>Sideline • IST 440W</a:t>
            </a:r>
          </a:p>
        </p:txBody>
      </p:sp>
      <p:sp>
        <p:nvSpPr>
          <p:cNvPr id="5" name="">
            <a:extLst xmlns:a="http://schemas.openxmlformats.org/drawingml/2006/main">
              <a:ext uri="{FF2B5EF4-FFF2-40B4-BE49-F238E27FC236}">
                <a16:creationId xmlns:a16="http://schemas.microsoft.com/office/drawing/2014/main" id="{E3A3B78A-428A-48BB-A24D-D769D2AB91E0}"/>
              </a:ext>
            </a:extLst>
          </p:cNvPr>
          <p:cNvSpPr>
            <a:spLocks xmlns:a="http://schemas.openxmlformats.org/drawingml/2006/main" noGrp="1"/>
          </p:cNvSpPr>
          <p:nvPr/>
        </p:nvSpPr>
        <p:spPr>
          <a:xfrm xmlns:a="http://schemas.openxmlformats.org/drawingml/2006/main">
            <a:off x="11239500" y="647700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203C33"/>
                </a:solidFill>
                <a:latin typeface="Nimbus Sans"/>
                <a:ea typeface="Nimbus Sans"/>
                <a:cs typeface="Nimbus Sans"/>
              </a:defRPr>
            </a:defPPr>
          </a:lstStyle>
          <a:p xmlns:a="http://schemas.openxmlformats.org/drawingml/2006/main">
            <a:pPr>
              <a:defRPr sz="1125" b="0">
                <a:solidFill>
                  <a:srgbClr val="203C33"/>
                </a:solidFill>
                <a:latin typeface="Nimbus Sans"/>
                <a:ea typeface="Nimbus Sans"/>
                <a:cs typeface="Nimbus Sans"/>
              </a:defRPr>
            </a:pPr>
            <a:r>
              <a:rPr sz="1125" b="0">
                <a:solidFill>
                  <a:srgbClr val="203C33"/>
                </a:solidFill>
                <a:latin typeface="Nimbus Sans"/>
                <a:ea typeface="Nimbus Sans"/>
                <a:cs typeface="Nimbus Sans"/>
              </a:rPr>
              <a:t>12</a:t>
            </a:r>
          </a:p>
        </p:txBody>
      </p:sp>
    </p:spTree>
    <p:extLst>
      <p:ext uri="{BB962C8B-B14F-4D97-AF65-F5344CB8AC3E}">
        <p14:creationId xmlns:p14="http://schemas.microsoft.com/office/powerpoint/2010/main" val="8570181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2026-10-11T15:02:35.0950000Z</dcterms:created>
  <dcterms:modified xsi:type="dcterms:W3CDTF">2026-10-11T15:02:35.0950000Z</dcterms:modified>
</coreProperties>
</file>